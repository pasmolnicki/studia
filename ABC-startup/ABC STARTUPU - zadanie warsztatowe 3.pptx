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3C2C75-461B-4890-9D8F-8F06169E8E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3A0A9E-3B47-4263-AD51-95B95BE18F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0EF098B-6F29-4DC3-B62E-5B8D5D861D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9FD4612-DBCE-46DB-A1E6-21B3B338D4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10F5FD5-942F-42EA-9BCD-054F63C4DC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B2B8E29-712C-4C2F-902E-4F78920DC0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A18B5F8-3E38-4C84-9F58-65034E88AD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C0A5532-023D-441E-93AF-A9E6DD03EB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60D03EC-5A9C-44FE-B6D0-2079EA5763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093C9EF-7E49-4DB9-B6C2-C175B2FD96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7BDFC0A1-8C3E-4864-9D11-37D55E6BE4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4791F6-904A-4C75-B0B4-3739DB82FC21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l-PL" sz="20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D93470-28FD-4884-9969-B4A42D6F150D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l-PL" sz="20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pl-PL" sz="1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B517B9-BA91-4742-8DE6-0A287A1F2FA1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730EEB-A311-435A-8967-F2E41EAC9584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8E6BC6-B6C6-4C61-BFE4-AA339B937CE1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5EC3BF-413D-4A97-9254-61AFE6C5E80A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32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C5B0CB-F989-40DB-8A78-67702AEBC899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l-PL" sz="4000" spc="-1" strike="noStrike" cap="all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pl-PL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Kliknij, aby edytować style wzorca tekstu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BCA26A-87BC-4F9E-9B8F-900D14761566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8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8524F0-A414-40C5-9D10-AAFC213401BD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2400" spc="-1" strike="noStrike">
                <a:solidFill>
                  <a:schemeClr val="dk1"/>
                </a:solidFill>
                <a:latin typeface="Calibri"/>
              </a:rPr>
              <a:t>Kliknij, aby edytować style wzorca tekstu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2000" spc="-1" strike="noStrike">
                <a:solidFill>
                  <a:schemeClr val="dk1"/>
                </a:solidFill>
                <a:latin typeface="Calibri"/>
              </a:rPr>
              <a:t>Drugi poziom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Trzeci poziom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Czwarty poziom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Piąty poziom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E0F81D-38AE-4070-822E-5D3B00D1937A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4400" spc="-1" strike="noStrike">
                <a:solidFill>
                  <a:schemeClr val="dk1"/>
                </a:solidFill>
                <a:latin typeface="Calibri"/>
              </a:rPr>
              <a:t>Kliknij, aby edytować styl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02E1CA-4A6C-4BED-9850-6CC4E189D03B}" type="slidenum">
              <a:rPr b="0" lang="pl-PL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google.pl/url?sa=i&amp;rct=j&amp;q=&amp;esrc=s&amp;source=images&amp;cd=&amp;cad=rja&amp;uact=8&amp;ved=2ahUKEwiYvoH_wLLaAhWGdCwKHd2LCW8QjRx6BAgAEAU&amp;url=http://fundacja.pwr.wroc.pl/pl/nocne_listowanie_vol_2_kazdy_moze_napisac_list/174/&amp;psig=AOvVaw0xDiQlDA1OAPoDpc7XJWad&amp;ust=1523545907157564" TargetMode="Externa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rostokąt 3"/>
          <p:cNvSpPr/>
          <p:nvPr/>
        </p:nvSpPr>
        <p:spPr>
          <a:xfrm>
            <a:off x="107640" y="1854000"/>
            <a:ext cx="2015640" cy="647280"/>
          </a:xfrm>
          <a:prstGeom prst="rect">
            <a:avLst/>
          </a:prstGeom>
          <a:noFill/>
          <a:ln w="635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Elipsa 4"/>
          <p:cNvSpPr/>
          <p:nvPr/>
        </p:nvSpPr>
        <p:spPr>
          <a:xfrm>
            <a:off x="2195640" y="2883240"/>
            <a:ext cx="2663640" cy="1295280"/>
          </a:xfrm>
          <a:prstGeom prst="ellipse">
            <a:avLst/>
          </a:prstGeom>
          <a:solidFill>
            <a:schemeClr val="bg1"/>
          </a:solidFill>
          <a:ln w="12700"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pl-PL" sz="1200" spc="-1" strike="noStrike">
                <a:solidFill>
                  <a:schemeClr val="dk1"/>
                </a:solidFill>
                <a:latin typeface="Calibri"/>
              </a:rPr>
              <a:t>Rozproszenie i nieufność w korepetycjach lokalnych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rostokąt 7"/>
          <p:cNvSpPr/>
          <p:nvPr/>
        </p:nvSpPr>
        <p:spPr>
          <a:xfrm>
            <a:off x="107640" y="1062000"/>
            <a:ext cx="2015640" cy="647280"/>
          </a:xfrm>
          <a:prstGeom prst="rect">
            <a:avLst/>
          </a:prstGeom>
          <a:noFill/>
          <a:ln w="635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Prostokąt 8"/>
          <p:cNvSpPr/>
          <p:nvPr/>
        </p:nvSpPr>
        <p:spPr>
          <a:xfrm>
            <a:off x="107640" y="3438360"/>
            <a:ext cx="2015640" cy="647280"/>
          </a:xfrm>
          <a:prstGeom prst="rect">
            <a:avLst/>
          </a:prstGeom>
          <a:noFill/>
          <a:ln w="635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Prostokąt 9"/>
          <p:cNvSpPr/>
          <p:nvPr/>
        </p:nvSpPr>
        <p:spPr>
          <a:xfrm>
            <a:off x="107640" y="2646360"/>
            <a:ext cx="2015640" cy="647280"/>
          </a:xfrm>
          <a:prstGeom prst="rect">
            <a:avLst/>
          </a:prstGeom>
          <a:noFill/>
          <a:ln w="635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Prostokąt 11"/>
          <p:cNvSpPr/>
          <p:nvPr/>
        </p:nvSpPr>
        <p:spPr>
          <a:xfrm>
            <a:off x="107640" y="4230360"/>
            <a:ext cx="2015640" cy="1348200"/>
          </a:xfrm>
          <a:prstGeom prst="rect">
            <a:avLst/>
          </a:prstGeom>
          <a:noFill/>
          <a:ln w="635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pole tekstowe 12"/>
          <p:cNvSpPr/>
          <p:nvPr/>
        </p:nvSpPr>
        <p:spPr>
          <a:xfrm>
            <a:off x="539640" y="630000"/>
            <a:ext cx="1295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CAUSES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rostokąt 13"/>
          <p:cNvSpPr/>
          <p:nvPr/>
        </p:nvSpPr>
        <p:spPr>
          <a:xfrm>
            <a:off x="5004000" y="1854000"/>
            <a:ext cx="2015640" cy="647280"/>
          </a:xfrm>
          <a:prstGeom prst="rect">
            <a:avLst/>
          </a:prstGeom>
          <a:noFill/>
          <a:ln w="635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Prostokąt 14"/>
          <p:cNvSpPr/>
          <p:nvPr/>
        </p:nvSpPr>
        <p:spPr>
          <a:xfrm>
            <a:off x="5004000" y="1062000"/>
            <a:ext cx="2015640" cy="647280"/>
          </a:xfrm>
          <a:prstGeom prst="rect">
            <a:avLst/>
          </a:prstGeom>
          <a:noFill/>
          <a:ln w="635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Prostokąt 15"/>
          <p:cNvSpPr/>
          <p:nvPr/>
        </p:nvSpPr>
        <p:spPr>
          <a:xfrm>
            <a:off x="5004000" y="3438360"/>
            <a:ext cx="2015640" cy="647280"/>
          </a:xfrm>
          <a:prstGeom prst="rect">
            <a:avLst/>
          </a:prstGeom>
          <a:noFill/>
          <a:ln w="635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Prostokąt 16"/>
          <p:cNvSpPr/>
          <p:nvPr/>
        </p:nvSpPr>
        <p:spPr>
          <a:xfrm>
            <a:off x="5004000" y="2646360"/>
            <a:ext cx="2015640" cy="647280"/>
          </a:xfrm>
          <a:prstGeom prst="rect">
            <a:avLst/>
          </a:prstGeom>
          <a:noFill/>
          <a:ln w="635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Prostokąt 17"/>
          <p:cNvSpPr/>
          <p:nvPr/>
        </p:nvSpPr>
        <p:spPr>
          <a:xfrm>
            <a:off x="5004000" y="5022360"/>
            <a:ext cx="2015640" cy="647280"/>
          </a:xfrm>
          <a:prstGeom prst="rect">
            <a:avLst/>
          </a:prstGeom>
          <a:noFill/>
          <a:ln w="635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Prostokąt 18"/>
          <p:cNvSpPr/>
          <p:nvPr/>
        </p:nvSpPr>
        <p:spPr>
          <a:xfrm>
            <a:off x="5004000" y="4230360"/>
            <a:ext cx="2015640" cy="647280"/>
          </a:xfrm>
          <a:prstGeom prst="rect">
            <a:avLst/>
          </a:prstGeom>
          <a:noFill/>
          <a:ln w="635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pole tekstowe 19"/>
          <p:cNvSpPr/>
          <p:nvPr/>
        </p:nvSpPr>
        <p:spPr>
          <a:xfrm>
            <a:off x="4932000" y="630000"/>
            <a:ext cx="22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NEGATIVE EFFECTS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ole tekstowe 20"/>
          <p:cNvSpPr/>
          <p:nvPr/>
        </p:nvSpPr>
        <p:spPr>
          <a:xfrm>
            <a:off x="6804360" y="620640"/>
            <a:ext cx="22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SOLUTIONS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Elipsa 21"/>
          <p:cNvSpPr/>
          <p:nvPr/>
        </p:nvSpPr>
        <p:spPr>
          <a:xfrm>
            <a:off x="7164360" y="1134000"/>
            <a:ext cx="1871640" cy="1007280"/>
          </a:xfrm>
          <a:prstGeom prst="ellipse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pl-PL" sz="1500" spc="-1" strike="noStrike">
                <a:solidFill>
                  <a:srgbClr val="00b050"/>
                </a:solidFill>
                <a:latin typeface="Calibri"/>
              </a:rPr>
              <a:t>Booking dla edukacji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Elipsa 22"/>
          <p:cNvSpPr/>
          <p:nvPr/>
        </p:nvSpPr>
        <p:spPr>
          <a:xfrm>
            <a:off x="7164360" y="2493000"/>
            <a:ext cx="1871640" cy="1007280"/>
          </a:xfrm>
          <a:prstGeom prst="ellipse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pl-PL" sz="1500" spc="-1" strike="noStrike">
                <a:solidFill>
                  <a:srgbClr val="0070c0"/>
                </a:solidFill>
                <a:latin typeface="Calibri"/>
              </a:rPr>
              <a:t>SaaS dla korepetytorów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Elipsa 23"/>
          <p:cNvSpPr/>
          <p:nvPr/>
        </p:nvSpPr>
        <p:spPr>
          <a:xfrm>
            <a:off x="7164360" y="3861000"/>
            <a:ext cx="1871640" cy="1007280"/>
          </a:xfrm>
          <a:prstGeom prst="ellipse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ole tekstowe 24"/>
          <p:cNvSpPr/>
          <p:nvPr/>
        </p:nvSpPr>
        <p:spPr>
          <a:xfrm>
            <a:off x="2933640" y="2286000"/>
            <a:ext cx="1295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PROBLEM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rostokąt 26"/>
          <p:cNvSpPr/>
          <p:nvPr/>
        </p:nvSpPr>
        <p:spPr>
          <a:xfrm>
            <a:off x="107640" y="5814720"/>
            <a:ext cx="2015640" cy="647280"/>
          </a:xfrm>
          <a:prstGeom prst="rect">
            <a:avLst/>
          </a:prstGeom>
          <a:noFill/>
          <a:ln w="635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Prostokąt 28"/>
          <p:cNvSpPr/>
          <p:nvPr/>
        </p:nvSpPr>
        <p:spPr>
          <a:xfrm>
            <a:off x="5004000" y="5814720"/>
            <a:ext cx="2015640" cy="647280"/>
          </a:xfrm>
          <a:prstGeom prst="rect">
            <a:avLst/>
          </a:prstGeom>
          <a:noFill/>
          <a:ln w="635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7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1160"/>
            <a:ext cx="1824120" cy="534960"/>
          </a:xfrm>
          <a:prstGeom prst="rect">
            <a:avLst/>
          </a:prstGeom>
          <a:ln w="0">
            <a:noFill/>
          </a:ln>
        </p:spPr>
      </p:pic>
      <p:sp>
        <p:nvSpPr>
          <p:cNvPr id="88" name="pole tekstowe 32"/>
          <p:cNvSpPr/>
          <p:nvPr/>
        </p:nvSpPr>
        <p:spPr>
          <a:xfrm>
            <a:off x="2416680" y="177840"/>
            <a:ext cx="3582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SZABLON WARSZTATOWY NR 1 i 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Elipsa 37"/>
          <p:cNvSpPr/>
          <p:nvPr/>
        </p:nvSpPr>
        <p:spPr>
          <a:xfrm>
            <a:off x="7164360" y="5229360"/>
            <a:ext cx="1871640" cy="1007280"/>
          </a:xfrm>
          <a:prstGeom prst="ellipse">
            <a:avLst/>
          </a:prstGeom>
          <a:solidFill>
            <a:schemeClr val="bg1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ole tekstowe 1"/>
          <p:cNvSpPr/>
          <p:nvPr/>
        </p:nvSpPr>
        <p:spPr>
          <a:xfrm>
            <a:off x="0" y="970920"/>
            <a:ext cx="229788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300" spc="-1" strike="noStrike">
                <a:solidFill>
                  <a:schemeClr val="dk1"/>
                </a:solidFill>
                <a:latin typeface="Calibri"/>
              </a:rPr>
              <a:t>Model “Tablicy Ogłoszeń” portale kończą swoją rolę na wymianie nr tel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ole tekstowe 2"/>
          <p:cNvSpPr/>
          <p:nvPr/>
        </p:nvSpPr>
        <p:spPr>
          <a:xfrm>
            <a:off x="107640" y="1869840"/>
            <a:ext cx="235656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300" spc="-1" strike="noStrike">
                <a:solidFill>
                  <a:schemeClr val="dk1"/>
                </a:solidFill>
                <a:latin typeface="Calibri"/>
              </a:rPr>
              <a:t>Wysoki próg wejścia w legalność – trudność w wystawianiu rachunków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ole tekstowe 3"/>
          <p:cNvSpPr/>
          <p:nvPr/>
        </p:nvSpPr>
        <p:spPr>
          <a:xfrm>
            <a:off x="0" y="2706480"/>
            <a:ext cx="2235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300" spc="-1" strike="noStrike">
                <a:solidFill>
                  <a:schemeClr val="dk1"/>
                </a:solidFill>
                <a:latin typeface="Calibri"/>
              </a:rPr>
              <a:t>Brak standardu weryfikacji kompetencji korepetytora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ole tekstowe 5"/>
          <p:cNvSpPr/>
          <p:nvPr/>
        </p:nvSpPr>
        <p:spPr>
          <a:xfrm>
            <a:off x="107640" y="3438360"/>
            <a:ext cx="20156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300" spc="-1" strike="noStrike">
                <a:solidFill>
                  <a:schemeClr val="dk1"/>
                </a:solidFill>
                <a:latin typeface="Calibri"/>
              </a:rPr>
              <a:t>Rozdrobnienie opinii – recenzje na różnych portalach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ole tekstowe 6"/>
          <p:cNvSpPr/>
          <p:nvPr/>
        </p:nvSpPr>
        <p:spPr>
          <a:xfrm>
            <a:off x="107640" y="4230360"/>
            <a:ext cx="2015640" cy="10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300" spc="-1" strike="noStrike">
                <a:solidFill>
                  <a:schemeClr val="dk1"/>
                </a:solidFill>
                <a:latin typeface="Calibri"/>
              </a:rPr>
              <a:t>Brak spójnej infrastruktury technologicznej – ludzie używają Fb, SMS...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ole tekstowe 7"/>
          <p:cNvSpPr/>
          <p:nvPr/>
        </p:nvSpPr>
        <p:spPr>
          <a:xfrm>
            <a:off x="4932000" y="1062000"/>
            <a:ext cx="24775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300" spc="-1" strike="noStrike">
                <a:solidFill>
                  <a:schemeClr val="dk1"/>
                </a:solidFill>
                <a:latin typeface="Calibri"/>
              </a:rPr>
              <a:t>Utrata czasu – Rodzice poświęcają czas na dzwonienie i umawianie się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ole tekstowe 8"/>
          <p:cNvSpPr/>
          <p:nvPr/>
        </p:nvSpPr>
        <p:spPr>
          <a:xfrm>
            <a:off x="4902120" y="1893600"/>
            <a:ext cx="24775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300" spc="-1" strike="noStrike">
                <a:solidFill>
                  <a:schemeClr val="dk1"/>
                </a:solidFill>
                <a:latin typeface="Calibri"/>
              </a:rPr>
              <a:t>Brak bezpieczeństwa – wpuszczanie do domu niezweryfikowanej osoby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ole tekstowe 9"/>
          <p:cNvSpPr/>
          <p:nvPr/>
        </p:nvSpPr>
        <p:spPr>
          <a:xfrm>
            <a:off x="4902480" y="2609280"/>
            <a:ext cx="24775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300" spc="-1" strike="noStrike">
                <a:solidFill>
                  <a:schemeClr val="dk1"/>
                </a:solidFill>
                <a:latin typeface="Calibri"/>
              </a:rPr>
              <a:t>Częste odwoływanie lekcji w ostatniej chwili bez żadnych konsekwencji finansowych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ole tekstowe 10"/>
          <p:cNvSpPr/>
          <p:nvPr/>
        </p:nvSpPr>
        <p:spPr>
          <a:xfrm>
            <a:off x="5004000" y="3438360"/>
            <a:ext cx="24775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300" spc="-1" strike="noStrike">
                <a:solidFill>
                  <a:schemeClr val="dk1"/>
                </a:solidFill>
                <a:latin typeface="Calibri"/>
              </a:rPr>
              <a:t>Brak ochrony konsumenta – nie ma reklamacji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ole tekstowe 13"/>
          <p:cNvSpPr/>
          <p:nvPr/>
        </p:nvSpPr>
        <p:spPr>
          <a:xfrm>
            <a:off x="5004000" y="4183920"/>
            <a:ext cx="24775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300" spc="-1" strike="noStrike">
                <a:solidFill>
                  <a:schemeClr val="dk1"/>
                </a:solidFill>
                <a:latin typeface="Calibri"/>
              </a:rPr>
              <a:t>Wysokie ceny i nauczyciele tracą czas na dojazdy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3600" spc="-1" strike="noStrike">
                <a:solidFill>
                  <a:schemeClr val="dk1"/>
                </a:solidFill>
                <a:latin typeface="Calibri"/>
              </a:rPr>
              <a:t>Zadanie nr 3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2960"/>
            <a:ext cx="1824120" cy="534960"/>
          </a:xfrm>
          <a:prstGeom prst="rect">
            <a:avLst/>
          </a:prstGeom>
          <a:ln w="0">
            <a:noFill/>
          </a:ln>
        </p:spPr>
      </p:pic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323640" y="2493000"/>
            <a:ext cx="8424000" cy="349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pl-PL" sz="3200" spc="-1" strike="noStrike">
                <a:solidFill>
                  <a:schemeClr val="dk1"/>
                </a:solidFill>
                <a:latin typeface="Calibri"/>
              </a:rPr>
              <a:t>Analiza i ocena potencjalnych rozwiązań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39760" y="-101520"/>
            <a:ext cx="8228880" cy="58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1111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3600" spc="-1" strike="noStrike">
                <a:solidFill>
                  <a:schemeClr val="dk1"/>
                </a:solidFill>
                <a:latin typeface="Calibri"/>
              </a:rPr>
              <a:t>Zadanie nr 3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2960"/>
            <a:ext cx="1824120" cy="5349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05" name="Tabela 3"/>
          <p:cNvGraphicFramePr/>
          <p:nvPr/>
        </p:nvGraphicFramePr>
        <p:xfrm>
          <a:off x="371880" y="517680"/>
          <a:ext cx="8305920" cy="7180920"/>
        </p:xfrm>
        <a:graphic>
          <a:graphicData uri="http://schemas.openxmlformats.org/drawingml/2006/table">
            <a:tbl>
              <a:tblPr/>
              <a:tblGrid>
                <a:gridCol w="1186920"/>
                <a:gridCol w="1186920"/>
                <a:gridCol w="1186920"/>
                <a:gridCol w="1186920"/>
                <a:gridCol w="1186920"/>
                <a:gridCol w="1186920"/>
                <a:gridCol w="1184760"/>
              </a:tblGrid>
              <a:tr h="918720">
                <a:tc gridSpan="2"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2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Kryteria oceny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</a:t>
                      </a:r>
                      <a:endParaRPr b="0" lang="en-US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2</a:t>
                      </a:r>
                      <a:endParaRPr b="0" lang="en-US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</a:t>
                      </a:r>
                      <a:endParaRPr b="0" lang="en-US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4</a:t>
                      </a:r>
                      <a:endParaRPr b="0" lang="en-US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5</a:t>
                      </a:r>
                      <a:endParaRPr b="0" lang="en-US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7080"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Potencjał rynku (wielkość)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45720"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Timing (zapotrzebow-anie rynku)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45720"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Zespół (potrzebne kompetencje)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32240"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Pomysł (innowacyj-ność)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45720"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Model biznesu  (efektywność)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59200"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Finansowanie (zapotrzebow. na kapitał)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6" name="Picture 4" descr="Znalezione obrazy dla zapytania: market icon color"/>
          <p:cNvPicPr/>
          <p:nvPr/>
        </p:nvPicPr>
        <p:blipFill>
          <a:blip r:embed="rId3"/>
          <a:stretch/>
        </p:blipFill>
        <p:spPr>
          <a:xfrm>
            <a:off x="685800" y="1489320"/>
            <a:ext cx="542520" cy="568080"/>
          </a:xfrm>
          <a:prstGeom prst="rect">
            <a:avLst/>
          </a:prstGeom>
          <a:ln w="0">
            <a:noFill/>
          </a:ln>
        </p:spPr>
      </p:pic>
      <p:pic>
        <p:nvPicPr>
          <p:cNvPr id="107" name="Picture 3" descr=""/>
          <p:cNvPicPr/>
          <p:nvPr/>
        </p:nvPicPr>
        <p:blipFill>
          <a:blip r:embed="rId4"/>
          <a:stretch/>
        </p:blipFill>
        <p:spPr>
          <a:xfrm>
            <a:off x="685800" y="2286000"/>
            <a:ext cx="647280" cy="669960"/>
          </a:xfrm>
          <a:prstGeom prst="rect">
            <a:avLst/>
          </a:prstGeom>
          <a:ln w="0">
            <a:noFill/>
          </a:ln>
        </p:spPr>
      </p:pic>
      <p:pic>
        <p:nvPicPr>
          <p:cNvPr id="108" name="Picture 4" descr=""/>
          <p:cNvPicPr/>
          <p:nvPr/>
        </p:nvPicPr>
        <p:blipFill>
          <a:blip r:embed="rId5"/>
          <a:stretch/>
        </p:blipFill>
        <p:spPr>
          <a:xfrm>
            <a:off x="685800" y="3254760"/>
            <a:ext cx="627840" cy="631440"/>
          </a:xfrm>
          <a:prstGeom prst="rect">
            <a:avLst/>
          </a:prstGeom>
          <a:ln w="0">
            <a:noFill/>
          </a:ln>
        </p:spPr>
      </p:pic>
      <p:sp>
        <p:nvSpPr>
          <p:cNvPr id="109" name="pole tekstowe 4"/>
          <p:cNvSpPr/>
          <p:nvPr/>
        </p:nvSpPr>
        <p:spPr>
          <a:xfrm>
            <a:off x="2790360" y="930960"/>
            <a:ext cx="1223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Niska ocena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ole tekstowe 11"/>
          <p:cNvSpPr/>
          <p:nvPr/>
        </p:nvSpPr>
        <p:spPr>
          <a:xfrm>
            <a:off x="5310720" y="952560"/>
            <a:ext cx="1367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Średnia ocena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ole tekstowe 12"/>
          <p:cNvSpPr/>
          <p:nvPr/>
        </p:nvSpPr>
        <p:spPr>
          <a:xfrm>
            <a:off x="7668360" y="907200"/>
            <a:ext cx="1367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Wysoka ocena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Picture 5" descr=""/>
          <p:cNvPicPr/>
          <p:nvPr/>
        </p:nvPicPr>
        <p:blipFill>
          <a:blip r:embed="rId6"/>
          <a:stretch/>
        </p:blipFill>
        <p:spPr>
          <a:xfrm>
            <a:off x="685800" y="4114800"/>
            <a:ext cx="607320" cy="603720"/>
          </a:xfrm>
          <a:prstGeom prst="rect">
            <a:avLst/>
          </a:prstGeom>
          <a:ln w="0">
            <a:noFill/>
          </a:ln>
        </p:spPr>
      </p:pic>
      <p:pic>
        <p:nvPicPr>
          <p:cNvPr id="113" name="Picture 6" descr=""/>
          <p:cNvPicPr/>
          <p:nvPr/>
        </p:nvPicPr>
        <p:blipFill>
          <a:blip r:embed="rId7"/>
          <a:stretch/>
        </p:blipFill>
        <p:spPr>
          <a:xfrm>
            <a:off x="685800" y="4952880"/>
            <a:ext cx="627840" cy="639000"/>
          </a:xfrm>
          <a:prstGeom prst="rect">
            <a:avLst/>
          </a:prstGeom>
          <a:ln w="0">
            <a:noFill/>
          </a:ln>
        </p:spPr>
      </p:pic>
      <p:pic>
        <p:nvPicPr>
          <p:cNvPr id="114" name="Picture 7" descr=""/>
          <p:cNvPicPr/>
          <p:nvPr/>
        </p:nvPicPr>
        <p:blipFill>
          <a:blip r:embed="rId8"/>
          <a:stretch/>
        </p:blipFill>
        <p:spPr>
          <a:xfrm>
            <a:off x="685800" y="5987520"/>
            <a:ext cx="619560" cy="64188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4490280" y="1708560"/>
            <a:ext cx="3583080" cy="4701600"/>
          </a:xfrm>
          <a:custGeom>
            <a:avLst/>
            <a:gdLst>
              <a:gd name="textAreaLeft" fmla="*/ 0 w 3583080"/>
              <a:gd name="textAreaRight" fmla="*/ 3583440 w 3583080"/>
              <a:gd name="textAreaTop" fmla="*/ 0 h 4701600"/>
              <a:gd name="textAreaBottom" fmla="*/ 4701960 h 4701600"/>
            </a:gdLst>
            <a:ahLst/>
            <a:rect l="textAreaLeft" t="textAreaTop" r="textAreaRight" b="textAreaBottom"/>
            <a:pathLst>
              <a:path fill="none" w="9954" h="13061">
                <a:moveTo>
                  <a:pt x="6426" y="0"/>
                </a:moveTo>
                <a:lnTo>
                  <a:pt x="7014" y="462"/>
                </a:lnTo>
                <a:lnTo>
                  <a:pt x="9828" y="2478"/>
                </a:lnTo>
                <a:lnTo>
                  <a:pt x="3360" y="5081"/>
                </a:lnTo>
                <a:lnTo>
                  <a:pt x="6762" y="7895"/>
                </a:lnTo>
                <a:lnTo>
                  <a:pt x="9954" y="10415"/>
                </a:lnTo>
                <a:lnTo>
                  <a:pt x="0" y="13061"/>
                </a:lnTo>
              </a:path>
            </a:pathLst>
          </a:custGeom>
          <a:noFill/>
          <a:ln w="6336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0960" rIns="120960" tIns="75960" bIns="759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5851080" y="1708560"/>
            <a:ext cx="2328120" cy="4777200"/>
          </a:xfrm>
          <a:custGeom>
            <a:avLst/>
            <a:gdLst>
              <a:gd name="textAreaLeft" fmla="*/ 0 w 2328120"/>
              <a:gd name="textAreaRight" fmla="*/ 2328480 w 2328120"/>
              <a:gd name="textAreaTop" fmla="*/ 0 h 4777200"/>
              <a:gd name="textAreaBottom" fmla="*/ 4777560 h 4777200"/>
            </a:gdLst>
            <a:ahLst/>
            <a:rect l="textAreaLeft" t="textAreaTop" r="textAreaRight" b="textAreaBottom"/>
            <a:pathLst>
              <a:path fill="none" w="6468" h="13271">
                <a:moveTo>
                  <a:pt x="6174" y="0"/>
                </a:moveTo>
                <a:lnTo>
                  <a:pt x="6174" y="2981"/>
                </a:lnTo>
                <a:lnTo>
                  <a:pt x="2982" y="5501"/>
                </a:lnTo>
                <a:lnTo>
                  <a:pt x="0" y="7643"/>
                </a:lnTo>
                <a:lnTo>
                  <a:pt x="2856" y="10205"/>
                </a:lnTo>
                <a:lnTo>
                  <a:pt x="6468" y="13271"/>
                </a:lnTo>
              </a:path>
            </a:pathLst>
          </a:custGeom>
          <a:noFill/>
          <a:ln w="76320">
            <a:solidFill>
              <a:srgbClr val="81d4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7440" rIns="127440" tIns="82440" bIns="82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ole tekstowe 14"/>
          <p:cNvSpPr/>
          <p:nvPr/>
        </p:nvSpPr>
        <p:spPr>
          <a:xfrm>
            <a:off x="6309000" y="1396800"/>
            <a:ext cx="1367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SaaS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ole tekstowe 15"/>
          <p:cNvSpPr/>
          <p:nvPr/>
        </p:nvSpPr>
        <p:spPr>
          <a:xfrm>
            <a:off x="7428240" y="1427040"/>
            <a:ext cx="1367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Booking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259640" y="28800"/>
            <a:ext cx="8228880" cy="58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1111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l-PL" sz="3600" spc="-1" strike="noStrike">
                <a:solidFill>
                  <a:schemeClr val="dk1"/>
                </a:solidFill>
                <a:latin typeface="Calibri"/>
              </a:rPr>
              <a:t>Zadanie nr 3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Picture 4" descr="Znalezione obrazy dla zapytania politechnika wrocławska logotyp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12960"/>
            <a:ext cx="1824120" cy="5349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21" name="Tabela 3"/>
          <p:cNvGraphicFramePr/>
          <p:nvPr/>
        </p:nvGraphicFramePr>
        <p:xfrm>
          <a:off x="179640" y="1397160"/>
          <a:ext cx="8854920" cy="7181280"/>
        </p:xfrm>
        <a:graphic>
          <a:graphicData uri="http://schemas.openxmlformats.org/drawingml/2006/table">
            <a:tbl>
              <a:tblPr/>
              <a:tblGrid>
                <a:gridCol w="1265040"/>
                <a:gridCol w="1265040"/>
                <a:gridCol w="1265040"/>
                <a:gridCol w="1265040"/>
                <a:gridCol w="1265040"/>
                <a:gridCol w="1265040"/>
                <a:gridCol w="1265040"/>
              </a:tblGrid>
              <a:tr h="946800">
                <a:tc gridSpan="2"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2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Kryteria oceny</a:t>
                      </a:r>
                      <a:endParaRPr b="0" lang="en-US" sz="2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</a:t>
                      </a:r>
                      <a:endParaRPr b="0" lang="en-US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2</a:t>
                      </a:r>
                      <a:endParaRPr b="0" lang="en-US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</a:t>
                      </a:r>
                      <a:endParaRPr b="0" lang="en-US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4</a:t>
                      </a:r>
                      <a:endParaRPr b="0" lang="en-US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32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5</a:t>
                      </a:r>
                      <a:endParaRPr b="0" lang="en-US" sz="3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520"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Potencjał rynku (wielkość)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46800"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Timing (zapotrzebow-anie rynku)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46800"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Zespół (potrzebne kompetencje)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520"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Pomysł (innowacyj-ność)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46800"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Model biznesu  (efektywność)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61720"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l-PL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Finansowanie (zapotrzebow. na kapitał)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pl-PL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22" name="Picture 4" descr="Znalezione obrazy dla zapytania: market icon color"/>
          <p:cNvPicPr/>
          <p:nvPr/>
        </p:nvPicPr>
        <p:blipFill>
          <a:blip r:embed="rId3"/>
          <a:stretch/>
        </p:blipFill>
        <p:spPr>
          <a:xfrm>
            <a:off x="511200" y="2205000"/>
            <a:ext cx="542520" cy="568080"/>
          </a:xfrm>
          <a:prstGeom prst="rect">
            <a:avLst/>
          </a:prstGeom>
          <a:ln w="0">
            <a:noFill/>
          </a:ln>
        </p:spPr>
      </p:pic>
      <p:pic>
        <p:nvPicPr>
          <p:cNvPr id="123" name="Picture 3" descr=""/>
          <p:cNvPicPr/>
          <p:nvPr/>
        </p:nvPicPr>
        <p:blipFill>
          <a:blip r:embed="rId4"/>
          <a:stretch/>
        </p:blipFill>
        <p:spPr>
          <a:xfrm>
            <a:off x="458640" y="2930760"/>
            <a:ext cx="647280" cy="669960"/>
          </a:xfrm>
          <a:prstGeom prst="rect">
            <a:avLst/>
          </a:prstGeom>
          <a:ln w="0">
            <a:noFill/>
          </a:ln>
        </p:spPr>
      </p:pic>
      <p:pic>
        <p:nvPicPr>
          <p:cNvPr id="124" name="Picture 4" descr=""/>
          <p:cNvPicPr/>
          <p:nvPr/>
        </p:nvPicPr>
        <p:blipFill>
          <a:blip r:embed="rId5"/>
          <a:stretch/>
        </p:blipFill>
        <p:spPr>
          <a:xfrm>
            <a:off x="478080" y="3717000"/>
            <a:ext cx="627840" cy="631440"/>
          </a:xfrm>
          <a:prstGeom prst="rect">
            <a:avLst/>
          </a:prstGeom>
          <a:ln w="0">
            <a:noFill/>
          </a:ln>
        </p:spPr>
      </p:pic>
      <p:sp>
        <p:nvSpPr>
          <p:cNvPr id="125" name="pole tekstowe 4"/>
          <p:cNvSpPr/>
          <p:nvPr/>
        </p:nvSpPr>
        <p:spPr>
          <a:xfrm>
            <a:off x="2699640" y="980640"/>
            <a:ext cx="1223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Niska ocena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ole tekstowe 11"/>
          <p:cNvSpPr/>
          <p:nvPr/>
        </p:nvSpPr>
        <p:spPr>
          <a:xfrm>
            <a:off x="5220000" y="1002240"/>
            <a:ext cx="1367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Średnia ocena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ole tekstowe 12"/>
          <p:cNvSpPr/>
          <p:nvPr/>
        </p:nvSpPr>
        <p:spPr>
          <a:xfrm>
            <a:off x="7668360" y="1002240"/>
            <a:ext cx="13672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600" spc="-1" strike="noStrike">
                <a:solidFill>
                  <a:schemeClr val="dk1"/>
                </a:solidFill>
                <a:latin typeface="Calibri"/>
              </a:rPr>
              <a:t>Wysoka ocena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rostokąt 6"/>
          <p:cNvSpPr/>
          <p:nvPr/>
        </p:nvSpPr>
        <p:spPr>
          <a:xfrm>
            <a:off x="3331440" y="609120"/>
            <a:ext cx="3846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l-PL" sz="1800" spc="-1" strike="noStrike">
                <a:solidFill>
                  <a:schemeClr val="dk1"/>
                </a:solidFill>
                <a:latin typeface="Calibri"/>
              </a:rPr>
              <a:t>Ocena  potencjalnych rozwiązań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Picture 5" descr=""/>
          <p:cNvPicPr/>
          <p:nvPr/>
        </p:nvPicPr>
        <p:blipFill>
          <a:blip r:embed="rId6"/>
          <a:stretch/>
        </p:blipFill>
        <p:spPr>
          <a:xfrm>
            <a:off x="488520" y="4509000"/>
            <a:ext cx="607320" cy="60372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6" descr=""/>
          <p:cNvPicPr/>
          <p:nvPr/>
        </p:nvPicPr>
        <p:blipFill>
          <a:blip r:embed="rId7"/>
          <a:stretch/>
        </p:blipFill>
        <p:spPr>
          <a:xfrm>
            <a:off x="468360" y="5229360"/>
            <a:ext cx="627840" cy="639000"/>
          </a:xfrm>
          <a:prstGeom prst="rect">
            <a:avLst/>
          </a:prstGeom>
          <a:ln w="0">
            <a:noFill/>
          </a:ln>
        </p:spPr>
      </p:pic>
      <p:pic>
        <p:nvPicPr>
          <p:cNvPr id="131" name="Picture 7" descr=""/>
          <p:cNvPicPr/>
          <p:nvPr/>
        </p:nvPicPr>
        <p:blipFill>
          <a:blip r:embed="rId8"/>
          <a:stretch/>
        </p:blipFill>
        <p:spPr>
          <a:xfrm>
            <a:off x="488520" y="6021360"/>
            <a:ext cx="619560" cy="641880"/>
          </a:xfrm>
          <a:prstGeom prst="rect">
            <a:avLst/>
          </a:prstGeom>
          <a:ln w="0">
            <a:noFill/>
          </a:ln>
        </p:spPr>
      </p:pic>
      <p:sp>
        <p:nvSpPr>
          <p:cNvPr id="132" name="Dowolny kształt 18"/>
          <p:cNvSpPr/>
          <p:nvPr/>
        </p:nvSpPr>
        <p:spPr>
          <a:xfrm>
            <a:off x="3534480" y="2455560"/>
            <a:ext cx="4776840" cy="3841920"/>
          </a:xfrm>
          <a:custGeom>
            <a:avLst/>
            <a:gdLst>
              <a:gd name="textAreaLeft" fmla="*/ 0 w 4776840"/>
              <a:gd name="textAreaRight" fmla="*/ 4777560 w 4776840"/>
              <a:gd name="textAreaTop" fmla="*/ 0 h 3841920"/>
              <a:gd name="textAreaBottom" fmla="*/ 3842640 h 3841920"/>
            </a:gdLst>
            <a:ahLst/>
            <a:rect l="textAreaLeft" t="textAreaTop" r="textAreaRight" b="textAreaBottom"/>
            <a:pathLst>
              <a:path w="4777483" h="3842534">
                <a:moveTo>
                  <a:pt x="1058238" y="0"/>
                </a:moveTo>
                <a:lnTo>
                  <a:pt x="3616503" y="750013"/>
                </a:lnTo>
                <a:lnTo>
                  <a:pt x="2321960" y="1571946"/>
                </a:lnTo>
                <a:lnTo>
                  <a:pt x="4777483" y="2280863"/>
                </a:lnTo>
                <a:lnTo>
                  <a:pt x="0" y="3092521"/>
                </a:lnTo>
                <a:lnTo>
                  <a:pt x="3832261" y="3842534"/>
                </a:lnTo>
                <a:lnTo>
                  <a:pt x="3832261" y="3842534"/>
                </a:lnTo>
                <a:lnTo>
                  <a:pt x="3832261" y="3842534"/>
                </a:lnTo>
              </a:path>
            </a:pathLst>
          </a:custGeom>
          <a:noFill/>
          <a:ln w="38100">
            <a:solidFill>
              <a:srgbClr val="00b05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pole tekstowe 19"/>
          <p:cNvSpPr/>
          <p:nvPr/>
        </p:nvSpPr>
        <p:spPr>
          <a:xfrm>
            <a:off x="4320000" y="2220840"/>
            <a:ext cx="35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ole tekstowe 21"/>
          <p:cNvSpPr/>
          <p:nvPr/>
        </p:nvSpPr>
        <p:spPr>
          <a:xfrm>
            <a:off x="7092360" y="2997000"/>
            <a:ext cx="35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ole tekstowe 22"/>
          <p:cNvSpPr/>
          <p:nvPr/>
        </p:nvSpPr>
        <p:spPr>
          <a:xfrm>
            <a:off x="5580000" y="3851640"/>
            <a:ext cx="35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ole tekstowe 23"/>
          <p:cNvSpPr/>
          <p:nvPr/>
        </p:nvSpPr>
        <p:spPr>
          <a:xfrm>
            <a:off x="8244360" y="4518360"/>
            <a:ext cx="35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ole tekstowe 24"/>
          <p:cNvSpPr/>
          <p:nvPr/>
        </p:nvSpPr>
        <p:spPr>
          <a:xfrm>
            <a:off x="3204000" y="5364360"/>
            <a:ext cx="35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ole tekstowe 25"/>
          <p:cNvSpPr/>
          <p:nvPr/>
        </p:nvSpPr>
        <p:spPr>
          <a:xfrm>
            <a:off x="7299720" y="6113520"/>
            <a:ext cx="35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ole tekstowe 28"/>
          <p:cNvSpPr/>
          <p:nvPr/>
        </p:nvSpPr>
        <p:spPr>
          <a:xfrm>
            <a:off x="8193240" y="2167200"/>
            <a:ext cx="35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ole tekstowe 29"/>
          <p:cNvSpPr/>
          <p:nvPr/>
        </p:nvSpPr>
        <p:spPr>
          <a:xfrm>
            <a:off x="8244360" y="3178080"/>
            <a:ext cx="35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ole tekstowe 30"/>
          <p:cNvSpPr/>
          <p:nvPr/>
        </p:nvSpPr>
        <p:spPr>
          <a:xfrm>
            <a:off x="6693480" y="3784320"/>
            <a:ext cx="35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ole tekstowe 31"/>
          <p:cNvSpPr/>
          <p:nvPr/>
        </p:nvSpPr>
        <p:spPr>
          <a:xfrm>
            <a:off x="6728760" y="4521240"/>
            <a:ext cx="35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ole tekstowe 32"/>
          <p:cNvSpPr/>
          <p:nvPr/>
        </p:nvSpPr>
        <p:spPr>
          <a:xfrm>
            <a:off x="6693480" y="5364360"/>
            <a:ext cx="35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ole tekstowe 33"/>
          <p:cNvSpPr/>
          <p:nvPr/>
        </p:nvSpPr>
        <p:spPr>
          <a:xfrm>
            <a:off x="8525880" y="6157800"/>
            <a:ext cx="35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l-PL" sz="1800" spc="-1" strike="noStrike">
                <a:solidFill>
                  <a:schemeClr val="dk1"/>
                </a:solidFill>
                <a:latin typeface="Calibri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Dowolny kształt 27"/>
          <p:cNvSpPr/>
          <p:nvPr/>
        </p:nvSpPr>
        <p:spPr>
          <a:xfrm>
            <a:off x="6996600" y="2435040"/>
            <a:ext cx="1560960" cy="3872520"/>
          </a:xfrm>
          <a:custGeom>
            <a:avLst/>
            <a:gdLst>
              <a:gd name="textAreaLeft" fmla="*/ 0 w 1560960"/>
              <a:gd name="textAreaRight" fmla="*/ 1561680 w 1560960"/>
              <a:gd name="textAreaTop" fmla="*/ 0 h 3872520"/>
              <a:gd name="textAreaBottom" fmla="*/ 3873240 h 3872520"/>
            </a:gdLst>
            <a:ahLst/>
            <a:rect l="textAreaLeft" t="textAreaTop" r="textAreaRight" b="textAreaBottom"/>
            <a:pathLst>
              <a:path w="1561672" h="3873358">
                <a:moveTo>
                  <a:pt x="1243173" y="0"/>
                </a:moveTo>
                <a:lnTo>
                  <a:pt x="1273996" y="893852"/>
                </a:lnTo>
                <a:lnTo>
                  <a:pt x="0" y="1489753"/>
                </a:lnTo>
                <a:lnTo>
                  <a:pt x="0" y="3092522"/>
                </a:lnTo>
                <a:lnTo>
                  <a:pt x="1561672" y="3873358"/>
                </a:lnTo>
                <a:lnTo>
                  <a:pt x="1561672" y="3873358"/>
                </a:lnTo>
              </a:path>
            </a:pathLst>
          </a:custGeom>
          <a:noFill/>
          <a:ln w="38100">
            <a:solidFill>
              <a:srgbClr val="0070c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l-PL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2307</TotalTime>
  <Application>LibreOffice/24.2.7.2$Linux_X86_64 LibreOffice_project/420$Build-2</Application>
  <AppVersion>15.0000</AppVersion>
  <Words>143</Words>
  <Paragraphs>58</Paragraphs>
  <Company>Hewlett-Packard Company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2018-04-11T14:57:30Z</dcterms:created>
  <dc:creator>Piotr Kubiński</dc:creator>
  <dc:description/>
  <dc:language>en-US</dc:language>
  <cp:lastModifiedBy/>
  <cp:lastPrinted>2026-03-24T23:41:29Z</cp:lastPrinted>
  <dcterms:modified xsi:type="dcterms:W3CDTF">2026-03-25T14:24:10Z</dcterms:modified>
  <cp:revision>69</cp:revision>
  <dc:subject/>
  <dc:title>Prezentacja programu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Pokaz na ekranie (4:3)</vt:lpwstr>
  </property>
  <property fmtid="{D5CDD505-2E9C-101B-9397-08002B2CF9AE}" pid="3" name="Slides">
    <vt:i4>4</vt:i4>
  </property>
</Properties>
</file>