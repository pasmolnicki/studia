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ajd tytułow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AE1446-1B7C-4668-9207-6C38EC2972FA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ytuł i tekst pionow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19B278-576A-4C1B-9D16-C0335C8DDB50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ytuł pionowy i tek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kni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j,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yto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wa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ć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49DC8D-AF05-4AF5-9B17-BF8E8B70F5BD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ytuł i zawartość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4AAB83-4441-42D3-B6A3-E8785B3FF6A6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główek sekcj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Kli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kni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j, 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aby 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edy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wa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ć 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</a:t>
            </a:r>
            <a:r>
              <a:rPr lang="pl-PL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endParaRPr lang="pl-PL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pl-PL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4E83FC-E41E-4E29-BE4A-7A0E98078FAF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wa elementy zawartośc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nij,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aby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edy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tow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ać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C17759-3742-48E2-AD90-3450BFC72986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ównan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nij,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aby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edy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tow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ać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pl-P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pl-P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3B5462-50A7-4B1C-9C6E-1B0278E78B9F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ylko tytu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nij,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aby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edy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tow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ać </a:t>
            </a:r>
            <a:r>
              <a:rPr lang="pl-PL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endParaRPr lang="pl-P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94E971-DADC-40BC-901A-623371CE9F2B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us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63B666-6345-4C6E-9339-028F2B106488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awartość z podpis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Drugi poziom</a:t>
            </a:r>
            <a:endParaRPr lang="pl-P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Trzeci poziom</a:t>
            </a:r>
            <a:endParaRPr lang="pl-P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Czwarty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Piąty poziom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97C687-56B5-4778-BE9C-2F20C14144E2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az z podpis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</a:t>
            </a:r>
            <a:endParaRPr lang="pl-P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l-PL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Kliknij, aby edytować style wzorca tekstu</a:t>
            </a:r>
            <a:endParaRPr lang="pl-PL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C4503C-7E10-4593-BEEE-F9C34DF1DB14}" type="slidenum">
              <a:rPr lang="pl-P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rostokąt 3"/>
          <p:cNvSpPr/>
          <p:nvPr/>
        </p:nvSpPr>
        <p:spPr>
          <a:xfrm>
            <a:off x="107640" y="185400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Elipsa 4"/>
          <p:cNvSpPr/>
          <p:nvPr/>
        </p:nvSpPr>
        <p:spPr>
          <a:xfrm>
            <a:off x="2195640" y="2883240"/>
            <a:ext cx="2664000" cy="1295640"/>
          </a:xfrm>
          <a:prstGeom prst="ellipse">
            <a:avLst/>
          </a:prstGeom>
          <a:solidFill>
            <a:schemeClr val="bg1"/>
          </a:solidFill>
          <a:ln w="12700"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pl-PL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Rozproszenie i nieufność w korepetycjach lokalnych</a:t>
            </a:r>
            <a:endParaRPr lang="pl-PL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rostokąt 7"/>
          <p:cNvSpPr/>
          <p:nvPr/>
        </p:nvSpPr>
        <p:spPr>
          <a:xfrm>
            <a:off x="107640" y="106200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Prostokąt 8"/>
          <p:cNvSpPr/>
          <p:nvPr/>
        </p:nvSpPr>
        <p:spPr>
          <a:xfrm>
            <a:off x="107640" y="3438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Prostokąt 9"/>
          <p:cNvSpPr/>
          <p:nvPr/>
        </p:nvSpPr>
        <p:spPr>
          <a:xfrm>
            <a:off x="107640" y="2646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Prostokąt 11"/>
          <p:cNvSpPr/>
          <p:nvPr/>
        </p:nvSpPr>
        <p:spPr>
          <a:xfrm>
            <a:off x="107640" y="4230360"/>
            <a:ext cx="2016000" cy="134856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pole tekstowe 12"/>
          <p:cNvSpPr/>
          <p:nvPr/>
        </p:nvSpPr>
        <p:spPr>
          <a:xfrm>
            <a:off x="539640" y="630000"/>
            <a:ext cx="1295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CAUSES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rostokąt 13"/>
          <p:cNvSpPr/>
          <p:nvPr/>
        </p:nvSpPr>
        <p:spPr>
          <a:xfrm>
            <a:off x="5004000" y="185400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Prostokąt 14"/>
          <p:cNvSpPr/>
          <p:nvPr/>
        </p:nvSpPr>
        <p:spPr>
          <a:xfrm>
            <a:off x="5004000" y="106200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Prostokąt 15"/>
          <p:cNvSpPr/>
          <p:nvPr/>
        </p:nvSpPr>
        <p:spPr>
          <a:xfrm>
            <a:off x="5004000" y="3438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Prostokąt 16"/>
          <p:cNvSpPr/>
          <p:nvPr/>
        </p:nvSpPr>
        <p:spPr>
          <a:xfrm>
            <a:off x="5004000" y="2646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Prostokąt 17"/>
          <p:cNvSpPr/>
          <p:nvPr/>
        </p:nvSpPr>
        <p:spPr>
          <a:xfrm>
            <a:off x="5004000" y="5022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Prostokąt 18"/>
          <p:cNvSpPr/>
          <p:nvPr/>
        </p:nvSpPr>
        <p:spPr>
          <a:xfrm>
            <a:off x="5004000" y="423036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pole tekstowe 19"/>
          <p:cNvSpPr/>
          <p:nvPr/>
        </p:nvSpPr>
        <p:spPr>
          <a:xfrm>
            <a:off x="4932000" y="630000"/>
            <a:ext cx="22320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NEGATIVE EFFECTS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ole tekstowe 20"/>
          <p:cNvSpPr/>
          <p:nvPr/>
        </p:nvSpPr>
        <p:spPr>
          <a:xfrm>
            <a:off x="6804360" y="620640"/>
            <a:ext cx="22320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SOLUTIONS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Elipsa 21"/>
          <p:cNvSpPr/>
          <p:nvPr/>
        </p:nvSpPr>
        <p:spPr>
          <a:xfrm>
            <a:off x="7164360" y="1134000"/>
            <a:ext cx="1872000" cy="1007640"/>
          </a:xfrm>
          <a:prstGeom prst="ellipse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l-PL" sz="1500" b="1" u="none" strike="noStrike">
                <a:solidFill>
                  <a:srgbClr val="00b050"/>
                </a:solidFill>
                <a:effectLst/>
                <a:uFillTx/>
                <a:latin typeface="Calibri"/>
              </a:rPr>
              <a:t>Booking dla edukacji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Elipsa 22"/>
          <p:cNvSpPr/>
          <p:nvPr/>
        </p:nvSpPr>
        <p:spPr>
          <a:xfrm>
            <a:off x="7164360" y="2493000"/>
            <a:ext cx="1872000" cy="1007640"/>
          </a:xfrm>
          <a:prstGeom prst="ellipse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l-PL" sz="15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SaaS dla korepetytorów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Elipsa 23"/>
          <p:cNvSpPr/>
          <p:nvPr/>
        </p:nvSpPr>
        <p:spPr>
          <a:xfrm>
            <a:off x="7164360" y="3861000"/>
            <a:ext cx="1872000" cy="1007640"/>
          </a:xfrm>
          <a:prstGeom prst="ellipse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ole tekstowe 24"/>
          <p:cNvSpPr/>
          <p:nvPr/>
        </p:nvSpPr>
        <p:spPr>
          <a:xfrm>
            <a:off x="2933640" y="2286000"/>
            <a:ext cx="1295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PROBLEM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rostokąt 26"/>
          <p:cNvSpPr/>
          <p:nvPr/>
        </p:nvSpPr>
        <p:spPr>
          <a:xfrm>
            <a:off x="107640" y="581472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Prostokąt 28"/>
          <p:cNvSpPr/>
          <p:nvPr/>
        </p:nvSpPr>
        <p:spPr>
          <a:xfrm>
            <a:off x="5004000" y="5814720"/>
            <a:ext cx="2016000" cy="647640"/>
          </a:xfrm>
          <a:prstGeom prst="rect">
            <a:avLst/>
          </a:prstGeom>
          <a:noFill/>
          <a:ln w="6350"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1160"/>
            <a:ext cx="1824480" cy="53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pole tekstowe 32"/>
          <p:cNvSpPr/>
          <p:nvPr/>
        </p:nvSpPr>
        <p:spPr>
          <a:xfrm>
            <a:off x="2416680" y="177840"/>
            <a:ext cx="35823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SZABLON WARSZTATOWY NR 1 i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Elipsa 37"/>
          <p:cNvSpPr/>
          <p:nvPr/>
        </p:nvSpPr>
        <p:spPr>
          <a:xfrm>
            <a:off x="7164360" y="5229360"/>
            <a:ext cx="1872000" cy="1007640"/>
          </a:xfrm>
          <a:prstGeom prst="ellipse">
            <a:avLst/>
          </a:prstGeom>
          <a:solidFill>
            <a:schemeClr val="bg1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ole tekstowe 1"/>
          <p:cNvSpPr/>
          <p:nvPr/>
        </p:nvSpPr>
        <p:spPr>
          <a:xfrm>
            <a:off x="0" y="970920"/>
            <a:ext cx="229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 “Tablicy Ogłoszeń” portale kończą swoją rolę na wymianie nr tel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ole tekstowe 2"/>
          <p:cNvSpPr/>
          <p:nvPr/>
        </p:nvSpPr>
        <p:spPr>
          <a:xfrm>
            <a:off x="107640" y="1869840"/>
            <a:ext cx="23569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Wysoki próg wejścia w legalność – trudność w wystawianiu rachunków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ole tekstowe 3"/>
          <p:cNvSpPr/>
          <p:nvPr/>
        </p:nvSpPr>
        <p:spPr>
          <a:xfrm>
            <a:off x="0" y="2706480"/>
            <a:ext cx="22359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Brak standardu weryfikacji kompetencji korepetytora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ole tekstowe 5"/>
          <p:cNvSpPr/>
          <p:nvPr/>
        </p:nvSpPr>
        <p:spPr>
          <a:xfrm>
            <a:off x="107640" y="3438360"/>
            <a:ext cx="20160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Rozdrobnienie opinii – recenzje na różnych portalach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ole tekstowe 6"/>
          <p:cNvSpPr/>
          <p:nvPr/>
        </p:nvSpPr>
        <p:spPr>
          <a:xfrm>
            <a:off x="107640" y="4230360"/>
            <a:ext cx="2016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Brak spójnej infrastruktury technologicznej – ludzie używają Fb, SMS...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ole tekstowe 7"/>
          <p:cNvSpPr/>
          <p:nvPr/>
        </p:nvSpPr>
        <p:spPr>
          <a:xfrm>
            <a:off x="4932000" y="1062000"/>
            <a:ext cx="2477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Utrata czasu – Rodzice poświęcają czas na dzwonienie i umawianie się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ole tekstowe 8"/>
          <p:cNvSpPr/>
          <p:nvPr/>
        </p:nvSpPr>
        <p:spPr>
          <a:xfrm>
            <a:off x="4902120" y="1893600"/>
            <a:ext cx="24778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Brak bezpieczeństwa – wpuszczanie do domu niezweryfikowanej osoby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ole tekstowe 9"/>
          <p:cNvSpPr/>
          <p:nvPr/>
        </p:nvSpPr>
        <p:spPr>
          <a:xfrm>
            <a:off x="4902480" y="2609280"/>
            <a:ext cx="24778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Częste odwoływanie lekcji w ostatniej chwili bez żadnych konsekwencji finansowych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ole tekstowe 10"/>
          <p:cNvSpPr/>
          <p:nvPr/>
        </p:nvSpPr>
        <p:spPr>
          <a:xfrm>
            <a:off x="5004000" y="3438360"/>
            <a:ext cx="24778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Brak ochrony konsumenta – nie ma reklamacji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ole tekstowe 13"/>
          <p:cNvSpPr/>
          <p:nvPr/>
        </p:nvSpPr>
        <p:spPr>
          <a:xfrm>
            <a:off x="5004000" y="4183920"/>
            <a:ext cx="24778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Wysokie ceny i nauczyciele tracą czas na dojazdy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Zadanie nr 3</a:t>
            </a:r>
            <a:endParaRPr lang="pl-PL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2960"/>
            <a:ext cx="1824480" cy="53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323640" y="2493000"/>
            <a:ext cx="8424360" cy="34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lang="pl-PL" sz="3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Analiza i ocena potencjalnych rozwiązań</a:t>
            </a:r>
            <a:endParaRPr lang="pl-P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39760" y="-101520"/>
            <a:ext cx="8229240" cy="58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Zadanie nr 3</a:t>
            </a:r>
            <a:endParaRPr lang="pl-PL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2960"/>
            <a:ext cx="1824480" cy="535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99" name="Tabela 3"/>
          <p:cNvGraphicFramePr/>
          <p:nvPr/>
        </p:nvGraphicFramePr>
        <p:xfrm>
          <a:off x="371880" y="517680"/>
          <a:ext cx="8305920" cy="6406200"/>
        </p:xfrm>
        <a:graphic>
          <a:graphicData uri="http://schemas.openxmlformats.org/drawingml/2006/table">
            <a:tbl>
              <a:tblPr/>
              <a:tblGrid>
                <a:gridCol w="1186920"/>
                <a:gridCol w="1186920"/>
                <a:gridCol w="1186920"/>
                <a:gridCol w="1186920"/>
                <a:gridCol w="1186920"/>
                <a:gridCol w="1186920"/>
                <a:gridCol w="1184760"/>
              </a:tblGrid>
              <a:tr h="918720">
                <a:tc gridSpan="2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2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Kryteria oceny</a:t>
                      </a:r>
                      <a:endParaRPr lang="en-US" sz="2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32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708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Potencjał rynku (wielkość)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57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Timing (zapotrzebow-anie rynku)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57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Zespół (potrzebne kompetencje)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3224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Pomysł (innowacyj-ność)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57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Model biznesu  (efektywność)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15920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Finansowanie (zapotrzebow. na kapitał)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0" name="Picture 4" descr="Znalezione obrazy dla zapytania: market icon color"/>
          <p:cNvPicPr/>
          <p:nvPr/>
        </p:nvPicPr>
        <p:blipFill>
          <a:blip r:embed="rId3"/>
          <a:stretch/>
        </p:blipFill>
        <p:spPr>
          <a:xfrm>
            <a:off x="511200" y="1928520"/>
            <a:ext cx="542880" cy="56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Picture 3"/>
          <p:cNvPicPr/>
          <p:nvPr/>
        </p:nvPicPr>
        <p:blipFill>
          <a:blip r:embed="rId4"/>
          <a:stretch/>
        </p:blipFill>
        <p:spPr>
          <a:xfrm>
            <a:off x="458640" y="2654280"/>
            <a:ext cx="647640" cy="67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Picture 4"/>
          <p:cNvPicPr/>
          <p:nvPr/>
        </p:nvPicPr>
        <p:blipFill>
          <a:blip r:embed="rId5"/>
          <a:stretch/>
        </p:blipFill>
        <p:spPr>
          <a:xfrm>
            <a:off x="478080" y="3440520"/>
            <a:ext cx="628200" cy="63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pole tekstowe 4"/>
          <p:cNvSpPr/>
          <p:nvPr/>
        </p:nvSpPr>
        <p:spPr>
          <a:xfrm>
            <a:off x="2790360" y="930960"/>
            <a:ext cx="1223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Niska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ole tekstowe 11"/>
          <p:cNvSpPr/>
          <p:nvPr/>
        </p:nvSpPr>
        <p:spPr>
          <a:xfrm>
            <a:off x="5310720" y="952560"/>
            <a:ext cx="1367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Średnia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ole tekstowe 12"/>
          <p:cNvSpPr/>
          <p:nvPr/>
        </p:nvSpPr>
        <p:spPr>
          <a:xfrm>
            <a:off x="7668360" y="907200"/>
            <a:ext cx="1367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Wysoka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5"/>
          <p:cNvPicPr/>
          <p:nvPr/>
        </p:nvPicPr>
        <p:blipFill>
          <a:blip r:embed="rId6"/>
          <a:stretch/>
        </p:blipFill>
        <p:spPr>
          <a:xfrm>
            <a:off x="488520" y="4232520"/>
            <a:ext cx="607680" cy="6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Picture 6"/>
          <p:cNvPicPr/>
          <p:nvPr/>
        </p:nvPicPr>
        <p:blipFill>
          <a:blip r:embed="rId7"/>
          <a:stretch/>
        </p:blipFill>
        <p:spPr>
          <a:xfrm>
            <a:off x="468360" y="4952880"/>
            <a:ext cx="62820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7"/>
          <p:cNvPicPr/>
          <p:nvPr/>
        </p:nvPicPr>
        <p:blipFill>
          <a:blip r:embed="rId8"/>
          <a:stretch/>
        </p:blipFill>
        <p:spPr>
          <a:xfrm>
            <a:off x="488520" y="5744880"/>
            <a:ext cx="619920" cy="64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4490280" y="1708560"/>
            <a:ext cx="3583440" cy="4701960"/>
          </a:xfrm>
          <a:custGeom>
            <a:avLst/>
            <a:gdLst/>
            <a:ahLst/>
            <a:rect l="0" t="0" r="r" b="b"/>
            <a:pathLst>
              <a:path fill="none" w="9954" h="13061">
                <a:moveTo>
                  <a:pt x="6426" y="0"/>
                </a:moveTo>
                <a:lnTo>
                  <a:pt x="7014" y="462"/>
                </a:lnTo>
                <a:lnTo>
                  <a:pt x="9828" y="2478"/>
                </a:lnTo>
                <a:lnTo>
                  <a:pt x="3360" y="5081"/>
                </a:lnTo>
                <a:lnTo>
                  <a:pt x="6762" y="7895"/>
                </a:lnTo>
                <a:lnTo>
                  <a:pt x="9954" y="10415"/>
                </a:lnTo>
                <a:lnTo>
                  <a:pt x="0" y="13061"/>
                </a:lnTo>
              </a:path>
            </a:pathLst>
          </a:custGeom>
          <a:ln w="63360">
            <a:solidFill>
              <a:srgbClr val="2a6099"/>
            </a:solidFill>
            <a:round/>
          </a:ln>
        </p:spPr>
        <p:txBody>
          <a:bodyPr lIns="120960" rIns="120960" tIns="75960" bIns="759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5851080" y="1708560"/>
            <a:ext cx="2328480" cy="4777560"/>
          </a:xfrm>
          <a:custGeom>
            <a:avLst/>
            <a:gdLst/>
            <a:ahLst/>
            <a:rect l="0" t="0" r="r" b="b"/>
            <a:pathLst>
              <a:path fill="none" w="6468" h="13271">
                <a:moveTo>
                  <a:pt x="6174" y="0"/>
                </a:moveTo>
                <a:lnTo>
                  <a:pt x="6174" y="2981"/>
                </a:lnTo>
                <a:lnTo>
                  <a:pt x="2982" y="5501"/>
                </a:lnTo>
                <a:lnTo>
                  <a:pt x="0" y="7643"/>
                </a:lnTo>
                <a:lnTo>
                  <a:pt x="2856" y="10205"/>
                </a:lnTo>
                <a:lnTo>
                  <a:pt x="6468" y="13271"/>
                </a:lnTo>
              </a:path>
            </a:pathLst>
          </a:custGeom>
          <a:ln w="76320">
            <a:solidFill>
              <a:srgbClr val="81d41a"/>
            </a:solidFill>
            <a:round/>
          </a:ln>
        </p:spPr>
        <p:txBody>
          <a:bodyPr lIns="127440" rIns="127440" tIns="82440" bIns="8244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ole tekstowe 14"/>
          <p:cNvSpPr/>
          <p:nvPr/>
        </p:nvSpPr>
        <p:spPr>
          <a:xfrm>
            <a:off x="6309000" y="1396800"/>
            <a:ext cx="136764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SaaS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ole tekstowe 15"/>
          <p:cNvSpPr/>
          <p:nvPr/>
        </p:nvSpPr>
        <p:spPr>
          <a:xfrm>
            <a:off x="7428240" y="1427040"/>
            <a:ext cx="136764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Booking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59640" y="28800"/>
            <a:ext cx="8229240" cy="58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pl-PL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Zadanie nr 3</a:t>
            </a:r>
            <a:endParaRPr lang="pl-PL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2960"/>
            <a:ext cx="1824480" cy="535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15" name="Tabela 3"/>
          <p:cNvGraphicFramePr/>
          <p:nvPr/>
        </p:nvGraphicFramePr>
        <p:xfrm>
          <a:off x="179640" y="1397160"/>
          <a:ext cx="8854920" cy="6447960"/>
        </p:xfrm>
        <a:graphic>
          <a:graphicData uri="http://schemas.openxmlformats.org/drawingml/2006/table">
            <a:tbl>
              <a:tblPr/>
              <a:tblGrid>
                <a:gridCol w="1265040"/>
                <a:gridCol w="1265040"/>
                <a:gridCol w="1265040"/>
                <a:gridCol w="1265040"/>
                <a:gridCol w="1265040"/>
                <a:gridCol w="1265040"/>
                <a:gridCol w="1265040"/>
              </a:tblGrid>
              <a:tr h="946800">
                <a:tc gridSpan="2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2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Kryteria oceny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3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5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Potencjał rynku (wielkość)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680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Timing (zapotrzebow-anie rynku)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680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Zespół (potrzebne kompetencje)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5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Pomysł (innowacyj-ność)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4680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Model biznesu  (efektywność)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161720"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l-PL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Finansowanie (zapotrzebow. na kapitał)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pl-PL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16" name="Picture 4" descr="Znalezione obrazy dla zapytania: market icon color"/>
          <p:cNvPicPr/>
          <p:nvPr/>
        </p:nvPicPr>
        <p:blipFill>
          <a:blip r:embed="rId3"/>
          <a:stretch/>
        </p:blipFill>
        <p:spPr>
          <a:xfrm>
            <a:off x="511200" y="2205000"/>
            <a:ext cx="542880" cy="56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3"/>
          <p:cNvPicPr/>
          <p:nvPr/>
        </p:nvPicPr>
        <p:blipFill>
          <a:blip r:embed="rId4"/>
          <a:stretch/>
        </p:blipFill>
        <p:spPr>
          <a:xfrm>
            <a:off x="458640" y="2930760"/>
            <a:ext cx="647640" cy="67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4"/>
          <p:cNvPicPr/>
          <p:nvPr/>
        </p:nvPicPr>
        <p:blipFill>
          <a:blip r:embed="rId5"/>
          <a:stretch/>
        </p:blipFill>
        <p:spPr>
          <a:xfrm>
            <a:off x="478080" y="3717000"/>
            <a:ext cx="628200" cy="63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ole tekstowe 4"/>
          <p:cNvSpPr/>
          <p:nvPr/>
        </p:nvSpPr>
        <p:spPr>
          <a:xfrm>
            <a:off x="2699640" y="980640"/>
            <a:ext cx="1223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Niska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ole tekstowe 11"/>
          <p:cNvSpPr/>
          <p:nvPr/>
        </p:nvSpPr>
        <p:spPr>
          <a:xfrm>
            <a:off x="5220000" y="1002240"/>
            <a:ext cx="1367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Średnia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ole tekstowe 12"/>
          <p:cNvSpPr/>
          <p:nvPr/>
        </p:nvSpPr>
        <p:spPr>
          <a:xfrm>
            <a:off x="7668360" y="1002240"/>
            <a:ext cx="13676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Wysoka ocena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rostokąt 6"/>
          <p:cNvSpPr/>
          <p:nvPr/>
        </p:nvSpPr>
        <p:spPr>
          <a:xfrm>
            <a:off x="3636000" y="609120"/>
            <a:ext cx="3237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Ocena  potencjalnych rozwiązań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5"/>
          <p:cNvPicPr/>
          <p:nvPr/>
        </p:nvPicPr>
        <p:blipFill>
          <a:blip r:embed="rId6"/>
          <a:stretch/>
        </p:blipFill>
        <p:spPr>
          <a:xfrm>
            <a:off x="488520" y="4509000"/>
            <a:ext cx="607680" cy="6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6"/>
          <p:cNvPicPr/>
          <p:nvPr/>
        </p:nvPicPr>
        <p:blipFill>
          <a:blip r:embed="rId7"/>
          <a:stretch/>
        </p:blipFill>
        <p:spPr>
          <a:xfrm>
            <a:off x="468360" y="5229360"/>
            <a:ext cx="62820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Picture 7"/>
          <p:cNvPicPr/>
          <p:nvPr/>
        </p:nvPicPr>
        <p:blipFill>
          <a:blip r:embed="rId8"/>
          <a:stretch/>
        </p:blipFill>
        <p:spPr>
          <a:xfrm>
            <a:off x="488520" y="6021360"/>
            <a:ext cx="619920" cy="64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Dowolny kształt 18"/>
          <p:cNvSpPr/>
          <p:nvPr/>
        </p:nvSpPr>
        <p:spPr>
          <a:xfrm>
            <a:off x="3534480" y="2455560"/>
            <a:ext cx="4777200" cy="3842280"/>
          </a:xfrm>
          <a:custGeom>
            <a:avLst/>
            <a:gdLst>
              <a:gd name="textAreaLeft" fmla="*/ 0 w 4777200"/>
              <a:gd name="textAreaRight" fmla="*/ 4777560 w 4777200"/>
              <a:gd name="textAreaTop" fmla="*/ 0 h 3842280"/>
              <a:gd name="textAreaBottom" fmla="*/ 3842640 h 3842280"/>
              <a:gd name="GluePoint1X" fmla="*/ 1058238 w 4777483"/>
              <a:gd name="GluePoint1Y" fmla="*/ 0 h 3842534"/>
              <a:gd name="GluePoint2X" fmla="*/ 3616503 w 4777483"/>
              <a:gd name="GluePoint2Y" fmla="*/ 750013 h 3842534"/>
              <a:gd name="GluePoint3X" fmla="*/ 2321960 w 4777483"/>
              <a:gd name="GluePoint3Y" fmla="*/ 1571946 h 3842534"/>
              <a:gd name="GluePoint4X" fmla="*/ 4777483 w 4777483"/>
              <a:gd name="GluePoint4Y" fmla="*/ 2280863 h 3842534"/>
              <a:gd name="GluePoint5X" fmla="*/ 0 w 4777483"/>
              <a:gd name="GluePoint5Y" fmla="*/ 3092521 h 3842534"/>
              <a:gd name="GluePoint6X" fmla="*/ 3832261 w 4777483"/>
              <a:gd name="GluePoint6Y" fmla="*/ 3842534 h 3842534"/>
              <a:gd name="GluePoint7X" fmla="*/ 3832261 w 4777483"/>
              <a:gd name="GluePoint7Y" fmla="*/ 3842534 h 3842534"/>
              <a:gd name="GluePoint8X" fmla="*/ 3832261 w 4777483"/>
              <a:gd name="GluePoint8Y" fmla="*/ 3842534 h 384253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</a:cxnLst>
            <a:rect l="textAreaLeft" t="textAreaTop" r="textAreaRight" b="textAreaBottom"/>
            <a:pathLst>
              <a:path w="4777483" h="3842534">
                <a:moveTo>
                  <a:pt x="1058238" y="0"/>
                </a:moveTo>
                <a:lnTo>
                  <a:pt x="3616503" y="750013"/>
                </a:lnTo>
                <a:lnTo>
                  <a:pt x="2321960" y="1571946"/>
                </a:lnTo>
                <a:lnTo>
                  <a:pt x="4777483" y="2280863"/>
                </a:lnTo>
                <a:lnTo>
                  <a:pt x="0" y="3092521"/>
                </a:lnTo>
                <a:lnTo>
                  <a:pt x="3832261" y="3842534"/>
                </a:lnTo>
                <a:lnTo>
                  <a:pt x="3832261" y="3842534"/>
                </a:lnTo>
                <a:lnTo>
                  <a:pt x="3832261" y="3842534"/>
                </a:lnTo>
              </a:path>
            </a:pathLst>
          </a:custGeom>
          <a:noFill/>
          <a:ln w="38100">
            <a:solidFill>
              <a:srgbClr val="00b05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pole tekstowe 19"/>
          <p:cNvSpPr/>
          <p:nvPr/>
        </p:nvSpPr>
        <p:spPr>
          <a:xfrm>
            <a:off x="4320000" y="222084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ole tekstowe 21"/>
          <p:cNvSpPr/>
          <p:nvPr/>
        </p:nvSpPr>
        <p:spPr>
          <a:xfrm>
            <a:off x="7092360" y="299700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ole tekstowe 22"/>
          <p:cNvSpPr/>
          <p:nvPr/>
        </p:nvSpPr>
        <p:spPr>
          <a:xfrm>
            <a:off x="5580000" y="385164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ole tekstowe 23"/>
          <p:cNvSpPr/>
          <p:nvPr/>
        </p:nvSpPr>
        <p:spPr>
          <a:xfrm>
            <a:off x="8244360" y="451836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ole tekstowe 24"/>
          <p:cNvSpPr/>
          <p:nvPr/>
        </p:nvSpPr>
        <p:spPr>
          <a:xfrm>
            <a:off x="3204000" y="536436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ole tekstowe 25"/>
          <p:cNvSpPr/>
          <p:nvPr/>
        </p:nvSpPr>
        <p:spPr>
          <a:xfrm>
            <a:off x="7299720" y="611352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ole tekstowe 28"/>
          <p:cNvSpPr/>
          <p:nvPr/>
        </p:nvSpPr>
        <p:spPr>
          <a:xfrm>
            <a:off x="8193240" y="216720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ole tekstowe 29"/>
          <p:cNvSpPr/>
          <p:nvPr/>
        </p:nvSpPr>
        <p:spPr>
          <a:xfrm>
            <a:off x="8244360" y="317808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ole tekstowe 30"/>
          <p:cNvSpPr/>
          <p:nvPr/>
        </p:nvSpPr>
        <p:spPr>
          <a:xfrm>
            <a:off x="6693480" y="378432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ole tekstowe 31"/>
          <p:cNvSpPr/>
          <p:nvPr/>
        </p:nvSpPr>
        <p:spPr>
          <a:xfrm>
            <a:off x="6728760" y="452124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ole tekstowe 32"/>
          <p:cNvSpPr/>
          <p:nvPr/>
        </p:nvSpPr>
        <p:spPr>
          <a:xfrm>
            <a:off x="6693480" y="536436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ole tekstowe 33"/>
          <p:cNvSpPr/>
          <p:nvPr/>
        </p:nvSpPr>
        <p:spPr>
          <a:xfrm>
            <a:off x="8525880" y="6157800"/>
            <a:ext cx="359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Dowolny kształt 27"/>
          <p:cNvSpPr/>
          <p:nvPr/>
        </p:nvSpPr>
        <p:spPr>
          <a:xfrm>
            <a:off x="6996600" y="2435040"/>
            <a:ext cx="1561320" cy="3872880"/>
          </a:xfrm>
          <a:custGeom>
            <a:avLst/>
            <a:gdLst>
              <a:gd name="textAreaLeft" fmla="*/ 0 w 1561320"/>
              <a:gd name="textAreaRight" fmla="*/ 1561680 w 1561320"/>
              <a:gd name="textAreaTop" fmla="*/ 0 h 3872880"/>
              <a:gd name="textAreaBottom" fmla="*/ 3873240 h 3872880"/>
              <a:gd name="GluePoint1X" fmla="*/ 1243173 w 1561672"/>
              <a:gd name="GluePoint1Y" fmla="*/ 0 h 3873358"/>
              <a:gd name="GluePoint2X" fmla="*/ 1273996 w 1561672"/>
              <a:gd name="GluePoint2Y" fmla="*/ 893852 h 3873358"/>
              <a:gd name="GluePoint3X" fmla="*/ 0 w 1561672"/>
              <a:gd name="GluePoint3Y" fmla="*/ 1489753 h 3873358"/>
              <a:gd name="GluePoint4X" fmla="*/ 0 w 1561672"/>
              <a:gd name="GluePoint4Y" fmla="*/ 3092522 h 3873358"/>
              <a:gd name="GluePoint5X" fmla="*/ 1561672 w 1561672"/>
              <a:gd name="GluePoint5Y" fmla="*/ 3873358 h 3873358"/>
              <a:gd name="GluePoint6X" fmla="*/ 1561672 w 1561672"/>
              <a:gd name="GluePoint6Y" fmla="*/ 3873358 h 38733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61672" h="3873358">
                <a:moveTo>
                  <a:pt x="1243173" y="0"/>
                </a:moveTo>
                <a:lnTo>
                  <a:pt x="1273996" y="893852"/>
                </a:lnTo>
                <a:lnTo>
                  <a:pt x="0" y="1489753"/>
                </a:lnTo>
                <a:lnTo>
                  <a:pt x="0" y="3092522"/>
                </a:lnTo>
                <a:lnTo>
                  <a:pt x="1561672" y="3873358"/>
                </a:lnTo>
                <a:lnTo>
                  <a:pt x="1561672" y="3873358"/>
                </a:lnTo>
              </a:path>
            </a:pathLst>
          </a:custGeom>
          <a:noFill/>
          <a:ln w="38100">
            <a:solidFill>
              <a:srgbClr val="0070c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l-P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2306</TotalTime>
  <Application>LibreOffice/25.8.5.2$Linux_X86_64 LibreOffice_project/252c20f6956e3db0b52e6e2f9dda67263513c8fc</Application>
  <AppVersion>15.0000</AppVersion>
  <Words>143</Words>
  <Paragraphs>58</Paragraphs>
  <Company>Hewlett-Packard Company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2018-04-11T14:57:30Z</dcterms:created>
  <dc:creator>Piotr Kubiński</dc:creator>
  <dc:description/>
  <dc:language>en-US</dc:language>
  <cp:lastModifiedBy/>
  <cp:lastPrinted>2026-03-24T23:41:29Z</cp:lastPrinted>
  <dcterms:modified xsi:type="dcterms:W3CDTF">2026-03-24T23:40:23Z</dcterms:modified>
  <cp:revision>68</cp:revision>
  <dc:subject/>
  <dc:title>Prezentacja programu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Pokaz na ekranie (4:3)</vt:lpwstr>
  </property>
  <property fmtid="{D5CDD505-2E9C-101B-9397-08002B2CF9AE}" pid="3" name="Slides">
    <vt:i4>4</vt:i4>
  </property>
</Properties>
</file>