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6B2B8F-99C4-4FB6-BA89-47038A4D96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8360EF-F146-4284-A84C-40A9A46F4D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DC7613F-13AD-466C-B810-088832D24B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6B0C02-9A4F-4AA6-9854-C039D51AA3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1A34B9-06E2-4923-9CE2-BDFAB369F6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4E34B73-DFE5-4DD5-9CF8-AE4C7EE9DE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9480EB0-6C31-4492-A87F-F4288FF908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1095FA1-9DC5-4B5E-B3D4-951FCEF30B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853093C-1AAB-4760-AC05-33BE0B6983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E43F1F6-36F9-4BC7-8CB9-30D9F5455A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CE58F06-C548-483E-B5A7-6D6C74CA3E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225E97-30BF-4BA5-8F86-F45FD78B61DF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1FF04-3E3E-49D3-A45B-8FDF3F0D4908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B0DD1B-7E30-4159-B8B4-69A3EB6BF287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8FA266-9A00-4FE0-B895-DB8BC07F7D24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4000" spc="-1" strike="noStrike" cap="all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l-PL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Kliknij, aby edytować style wzorca tekstu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BD2677-4943-4C62-AD13-4AE38936DB83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37B576-630B-423C-AB4B-18D5400C7772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56841E-D77D-4F14-BF51-057E1658D243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09E016-5FEE-492F-BA54-7EB421AEE9FF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638BC-B187-4557-B6EE-E6ED8B1DFB8F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56F4F1-CD2B-40BA-9896-A141C1185F1A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7458F6-E75B-4C1E-9281-333736968575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5</a:t>
            </a:r>
            <a:endParaRPr b="0" lang="pl-PL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7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251640" y="1484640"/>
            <a:ext cx="8640720" cy="460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14440" indent="-5144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Na rysuneczku na następnym slajdzie proszę o zgrubne przybliżenie, kto mógłby być naszym pierwszym klientem? Można go opisać np. poprzez mapę empatii 6a, czy szablon opisu persony 6b? 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Proszę wykorzystać minimum jeden szablon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11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70" name="pole tekstowe 32"/>
          <p:cNvSpPr/>
          <p:nvPr/>
        </p:nvSpPr>
        <p:spPr>
          <a:xfrm>
            <a:off x="1907640" y="177840"/>
            <a:ext cx="712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SZABLON WARSZTATOWY NR 5a – Mapa empatii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chemat blokowy: wyodrębnianie 1"/>
          <p:cNvSpPr/>
          <p:nvPr/>
        </p:nvSpPr>
        <p:spPr>
          <a:xfrm>
            <a:off x="467640" y="2520360"/>
            <a:ext cx="8208720" cy="1844640"/>
          </a:xfrm>
          <a:prstGeom prst="flowChartExtra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Schemat blokowy: wyodrębnianie 5"/>
          <p:cNvSpPr/>
          <p:nvPr/>
        </p:nvSpPr>
        <p:spPr>
          <a:xfrm rot="10800000">
            <a:off x="467640" y="620640"/>
            <a:ext cx="8208720" cy="1800000"/>
          </a:xfrm>
          <a:prstGeom prst="flowChartExtra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pole tekstowe 3"/>
          <p:cNvSpPr/>
          <p:nvPr/>
        </p:nvSpPr>
        <p:spPr>
          <a:xfrm>
            <a:off x="3636000" y="744480"/>
            <a:ext cx="1944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Co użytkownik </a:t>
            </a:r>
            <a:br>
              <a:rPr sz="1400"/>
            </a:b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myśli i czuje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ole tekstowe 7"/>
          <p:cNvSpPr/>
          <p:nvPr/>
        </p:nvSpPr>
        <p:spPr>
          <a:xfrm>
            <a:off x="3708000" y="3027600"/>
            <a:ext cx="1908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Co użytkownik </a:t>
            </a:r>
            <a:br>
              <a:rPr sz="1400"/>
            </a:b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mówi  i robi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rostokąt 4"/>
          <p:cNvSpPr/>
          <p:nvPr/>
        </p:nvSpPr>
        <p:spPr>
          <a:xfrm>
            <a:off x="467640" y="4437000"/>
            <a:ext cx="4104000" cy="223200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Prostokąt 9"/>
          <p:cNvSpPr/>
          <p:nvPr/>
        </p:nvSpPr>
        <p:spPr>
          <a:xfrm>
            <a:off x="4601160" y="4437000"/>
            <a:ext cx="4104000" cy="223200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rójkąt równoramienny 6"/>
          <p:cNvSpPr/>
          <p:nvPr/>
        </p:nvSpPr>
        <p:spPr>
          <a:xfrm rot="16200000">
            <a:off x="5044320" y="560160"/>
            <a:ext cx="3476160" cy="384516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rójkąt równoramienny 12"/>
          <p:cNvSpPr/>
          <p:nvPr/>
        </p:nvSpPr>
        <p:spPr>
          <a:xfrm flipV="1" rot="16200000">
            <a:off x="651960" y="522720"/>
            <a:ext cx="3513600" cy="388224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pole tekstowe 14"/>
          <p:cNvSpPr/>
          <p:nvPr/>
        </p:nvSpPr>
        <p:spPr>
          <a:xfrm>
            <a:off x="6498360" y="2048760"/>
            <a:ext cx="1674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Co użytkownik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widzi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ole tekstowe 15"/>
          <p:cNvSpPr/>
          <p:nvPr/>
        </p:nvSpPr>
        <p:spPr>
          <a:xfrm>
            <a:off x="971640" y="2005920"/>
            <a:ext cx="1800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Co użytkownik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słyszy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ole tekstowe 16"/>
          <p:cNvSpPr/>
          <p:nvPr/>
        </p:nvSpPr>
        <p:spPr>
          <a:xfrm>
            <a:off x="1691640" y="4599000"/>
            <a:ext cx="1944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Bolączki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, 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obawy, frustracje?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ole tekstowe 17"/>
          <p:cNvSpPr/>
          <p:nvPr/>
        </p:nvSpPr>
        <p:spPr>
          <a:xfrm>
            <a:off x="5472000" y="4653000"/>
            <a:ext cx="2052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Korzyści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, </a:t>
            </a:r>
            <a:br>
              <a:rPr sz="1400"/>
            </a:b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pragnienia, potrzeby?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2" descr=""/>
          <p:cNvPicPr/>
          <p:nvPr/>
        </p:nvPicPr>
        <p:blipFill>
          <a:blip r:embed="rId3"/>
          <a:stretch/>
        </p:blipFill>
        <p:spPr>
          <a:xfrm>
            <a:off x="4147920" y="1986840"/>
            <a:ext cx="848160" cy="95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2" descr=""/>
          <p:cNvPicPr/>
          <p:nvPr/>
        </p:nvPicPr>
        <p:blipFill>
          <a:blip r:embed="rId1"/>
          <a:stretch/>
        </p:blipFill>
        <p:spPr>
          <a:xfrm>
            <a:off x="28440" y="42840"/>
            <a:ext cx="9086400" cy="6771960"/>
          </a:xfrm>
          <a:prstGeom prst="rect">
            <a:avLst/>
          </a:prstGeom>
          <a:ln w="0">
            <a:noFill/>
          </a:ln>
        </p:spPr>
      </p:pic>
      <p:sp>
        <p:nvSpPr>
          <p:cNvPr id="85" name="pole tekstowe 1"/>
          <p:cNvSpPr/>
          <p:nvPr/>
        </p:nvSpPr>
        <p:spPr>
          <a:xfrm>
            <a:off x="5292000" y="87120"/>
            <a:ext cx="2232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Przykład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rostokąt 26"/>
          <p:cNvSpPr/>
          <p:nvPr/>
        </p:nvSpPr>
        <p:spPr>
          <a:xfrm>
            <a:off x="472320" y="3167640"/>
            <a:ext cx="823752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rostokąt 29"/>
          <p:cNvSpPr/>
          <p:nvPr/>
        </p:nvSpPr>
        <p:spPr>
          <a:xfrm>
            <a:off x="467640" y="711360"/>
            <a:ext cx="2200680" cy="2339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11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89" name="pole tekstowe 32"/>
          <p:cNvSpPr/>
          <p:nvPr/>
        </p:nvSpPr>
        <p:spPr>
          <a:xfrm>
            <a:off x="1907640" y="177840"/>
            <a:ext cx="7128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SZABLON WARSZTATOWY NR 5b – Szablon Persony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rostokąt 4"/>
          <p:cNvSpPr/>
          <p:nvPr/>
        </p:nvSpPr>
        <p:spPr>
          <a:xfrm>
            <a:off x="472320" y="5633280"/>
            <a:ext cx="410400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rostokąt 9"/>
          <p:cNvSpPr/>
          <p:nvPr/>
        </p:nvSpPr>
        <p:spPr>
          <a:xfrm>
            <a:off x="4605840" y="5633280"/>
            <a:ext cx="410400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Prostokąt 20"/>
          <p:cNvSpPr/>
          <p:nvPr/>
        </p:nvSpPr>
        <p:spPr>
          <a:xfrm>
            <a:off x="472320" y="4410000"/>
            <a:ext cx="410400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rostokąt 21"/>
          <p:cNvSpPr/>
          <p:nvPr/>
        </p:nvSpPr>
        <p:spPr>
          <a:xfrm>
            <a:off x="4641840" y="4374000"/>
            <a:ext cx="410400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pole tekstowe 27"/>
          <p:cNvSpPr/>
          <p:nvPr/>
        </p:nvSpPr>
        <p:spPr>
          <a:xfrm>
            <a:off x="472320" y="3167640"/>
            <a:ext cx="82375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Dane „uczłowieczające”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Hobby – granie na komputerze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Rodzina - żyje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Marzenia – godne zarobki + emerytura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2" descr=""/>
          <p:cNvPicPr/>
          <p:nvPr/>
        </p:nvPicPr>
        <p:blipFill>
          <a:blip r:embed="rId3"/>
          <a:stretch/>
        </p:blipFill>
        <p:spPr>
          <a:xfrm>
            <a:off x="719640" y="836640"/>
            <a:ext cx="1331640" cy="1498320"/>
          </a:xfrm>
          <a:prstGeom prst="rect">
            <a:avLst/>
          </a:prstGeom>
          <a:ln w="0">
            <a:noFill/>
          </a:ln>
        </p:spPr>
      </p:pic>
      <p:sp>
        <p:nvSpPr>
          <p:cNvPr id="96" name="pole tekstowe 30"/>
          <p:cNvSpPr/>
          <p:nvPr/>
        </p:nvSpPr>
        <p:spPr>
          <a:xfrm>
            <a:off x="395640" y="2422800"/>
            <a:ext cx="2371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Zdjęcie, Rysunek, Wizualizacja Twojego Klienta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rostokąt 33"/>
          <p:cNvSpPr/>
          <p:nvPr/>
        </p:nvSpPr>
        <p:spPr>
          <a:xfrm>
            <a:off x="2915640" y="1871280"/>
            <a:ext cx="576612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pole tekstowe 34"/>
          <p:cNvSpPr/>
          <p:nvPr/>
        </p:nvSpPr>
        <p:spPr>
          <a:xfrm>
            <a:off x="2915640" y="1862280"/>
            <a:ext cx="5313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Podstawowe dane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Wiek - 20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Miejsce zamieszkania - Wrocław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Wyszkstałcenie - średnie (w trakcie studiów)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Praca - korepetytor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rostokąt 35"/>
          <p:cNvSpPr/>
          <p:nvPr/>
        </p:nvSpPr>
        <p:spPr>
          <a:xfrm>
            <a:off x="2915640" y="647640"/>
            <a:ext cx="5766120" cy="1151280"/>
          </a:xfrm>
          <a:prstGeom prst="rect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pole tekstowe 36"/>
          <p:cNvSpPr/>
          <p:nvPr/>
        </p:nvSpPr>
        <p:spPr>
          <a:xfrm>
            <a:off x="3886200" y="647640"/>
            <a:ext cx="36576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Motto życiowe Twojego Klienta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ole tekstowe 37"/>
          <p:cNvSpPr/>
          <p:nvPr/>
        </p:nvSpPr>
        <p:spPr>
          <a:xfrm>
            <a:off x="467640" y="4419000"/>
            <a:ext cx="3168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Cechy osobowościowe i charakteru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społeczny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Chętny do rozwoju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pomocny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ole tekstowe 38"/>
          <p:cNvSpPr/>
          <p:nvPr/>
        </p:nvSpPr>
        <p:spPr>
          <a:xfrm>
            <a:off x="4644000" y="4419000"/>
            <a:ext cx="3168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Umiejętności techniczne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Obsługa komputera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ole tekstowe 39"/>
          <p:cNvSpPr/>
          <p:nvPr/>
        </p:nvSpPr>
        <p:spPr>
          <a:xfrm>
            <a:off x="472320" y="5633280"/>
            <a:ext cx="41468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200" spc="-1" strike="noStrike" u="sng">
                <a:solidFill>
                  <a:schemeClr val="dk2"/>
                </a:solidFill>
                <a:uFillTx/>
                <a:latin typeface="Calibri"/>
              </a:rPr>
              <a:t>Doświadczenia/ Nawyki/ Oczekiwania wobec produktu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Obeznany z akademickim sposobem nauczania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Chce podnieść poziom edukacji w Polsce i usunąć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ole tekstowe 40"/>
          <p:cNvSpPr/>
          <p:nvPr/>
        </p:nvSpPr>
        <p:spPr>
          <a:xfrm>
            <a:off x="4619160" y="5639040"/>
            <a:ext cx="31680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400" spc="-1" strike="noStrike" u="sng">
                <a:solidFill>
                  <a:schemeClr val="dk2"/>
                </a:solidFill>
                <a:uFillTx/>
                <a:latin typeface="Calibri"/>
              </a:rPr>
              <a:t>Podsumowanie i dodatkowe informacje</a:t>
            </a: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2" descr=""/>
          <p:cNvPicPr/>
          <p:nvPr/>
        </p:nvPicPr>
        <p:blipFill>
          <a:blip r:embed="rId1"/>
          <a:stretch/>
        </p:blipFill>
        <p:spPr>
          <a:xfrm>
            <a:off x="35640" y="44640"/>
            <a:ext cx="9205920" cy="6885360"/>
          </a:xfrm>
          <a:prstGeom prst="rect">
            <a:avLst/>
          </a:prstGeom>
          <a:ln w="0">
            <a:noFill/>
          </a:ln>
        </p:spPr>
      </p:pic>
      <p:sp>
        <p:nvSpPr>
          <p:cNvPr id="106" name="pole tekstowe 2"/>
          <p:cNvSpPr/>
          <p:nvPr/>
        </p:nvSpPr>
        <p:spPr>
          <a:xfrm>
            <a:off x="5580000" y="116640"/>
            <a:ext cx="2232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Przykład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2152</TotalTime>
  <Application>LibreOffice/24.2.7.2$Linux_X86_64 LibreOffice_project/420$Build-2</Application>
  <AppVersion>15.0000</AppVersion>
  <Words>129</Words>
  <Paragraphs>71</Paragraphs>
  <Company>Hewlett-Packard Company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2018-04-11T14:57:30Z</dcterms:created>
  <dc:creator>Piotr Kubiński</dc:creator>
  <dc:description/>
  <dc:language>en-US</dc:language>
  <cp:lastModifiedBy/>
  <cp:lastPrinted>2018-05-08T14:24:55Z</cp:lastPrinted>
  <dcterms:modified xsi:type="dcterms:W3CDTF">2026-04-22T16:30:28Z</dcterms:modified>
  <cp:revision>70</cp:revision>
  <dc:subject/>
  <dc:title>Prezentacja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Pokaz na ekranie (4:3)</vt:lpwstr>
  </property>
  <property fmtid="{D5CDD505-2E9C-101B-9397-08002B2CF9AE}" pid="3" name="Slides">
    <vt:i4>5</vt:i4>
  </property>
</Properties>
</file>