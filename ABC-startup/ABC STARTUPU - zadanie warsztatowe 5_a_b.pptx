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EA4748-3D49-4E43-AF1D-2CF22F2E94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BB5334-DA86-46DD-9A21-2523EFF3FD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F827112-CD18-4A61-9649-A41E90EB66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E90E2A-0431-436B-8D28-91E0903B4A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DD6FAAD-D527-4A84-942E-DA1DCEE424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AAE2E36-13CC-4BAB-B033-42FFD75572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C69F077-63EC-4EA1-BCC8-3725586D799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3441F01-51F9-42BD-B685-593CE283C8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7D2A816-5FAC-45FB-9E79-B2BA56C46E8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70F0D66-BA3A-411B-BE3E-8B3249192B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1914D76-EAA6-4DC8-B0A0-A950C71B02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22C7BA-20D2-4F42-B20D-39CA2A38D4F8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4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6BA254-C76F-474D-A2F5-E107285EED25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AF2C40-C58A-4CFF-B4C2-B167BE295778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C2F587-72BB-4DF6-A2A9-8F2AD753A774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E7E0F8-7A52-46E8-B836-B28BBD593847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67EA82-C80F-457A-823C-81D4C32DA931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3CD25E-23F1-41E2-9929-360739F6D992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803478-0B89-422C-B894-22CC7089FDC3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4C447C-4F81-4FCA-A781-23E1F34579BF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5EF341-4200-4F2A-B959-0EA46F5AA62C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A4EF4E-256A-4328-8AE7-C974D1930BA5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l-PL" sz="3600" spc="-1" strike="noStrike">
                <a:solidFill>
                  <a:schemeClr val="dk1"/>
                </a:solidFill>
                <a:latin typeface="Calibri"/>
              </a:rPr>
              <a:t>Zadanie nr 5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2960"/>
            <a:ext cx="1824120" cy="534960"/>
          </a:xfrm>
          <a:prstGeom prst="rect">
            <a:avLst/>
          </a:prstGeom>
          <a:ln w="0">
            <a:noFill/>
          </a:ln>
        </p:spPr>
      </p:pic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251640" y="1484640"/>
            <a:ext cx="8640360" cy="460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514440" indent="-5144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pl-PL" sz="2400" spc="-1" strike="noStrike">
                <a:solidFill>
                  <a:schemeClr val="dk1"/>
                </a:solidFill>
                <a:latin typeface="Calibri"/>
              </a:rPr>
              <a:t>Na rysuneczku na następnym slajdzie proszę o zgrubne przybliżenie, kto mógłby być naszym pierwszym klientem? Można go opisać np. poprzez mapę empatii 6a, czy szablon opisu persony 6b?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514440" indent="-5144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pl-PL" sz="2400" spc="-1" strike="noStrike">
                <a:solidFill>
                  <a:schemeClr val="dk1"/>
                </a:solidFill>
                <a:latin typeface="Calibri"/>
              </a:rPr>
              <a:t>Proszę wykorzystać minimum jeden szablon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1160"/>
            <a:ext cx="1824120" cy="534960"/>
          </a:xfrm>
          <a:prstGeom prst="rect">
            <a:avLst/>
          </a:prstGeom>
          <a:ln w="0">
            <a:noFill/>
          </a:ln>
        </p:spPr>
      </p:pic>
      <p:sp>
        <p:nvSpPr>
          <p:cNvPr id="53" name="pole tekstowe 32"/>
          <p:cNvSpPr/>
          <p:nvPr/>
        </p:nvSpPr>
        <p:spPr>
          <a:xfrm>
            <a:off x="1907640" y="177840"/>
            <a:ext cx="7128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pl-PL" sz="1800" spc="-1" strike="noStrike">
                <a:solidFill>
                  <a:schemeClr val="dk1"/>
                </a:solidFill>
                <a:latin typeface="Calibri"/>
              </a:rPr>
              <a:t>SZABLON WARSZTATOWY NR 5a – Mapa empatii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chemat blokowy: wyodrębnianie 1"/>
          <p:cNvSpPr/>
          <p:nvPr/>
        </p:nvSpPr>
        <p:spPr>
          <a:xfrm>
            <a:off x="467640" y="2520360"/>
            <a:ext cx="8208360" cy="1844280"/>
          </a:xfrm>
          <a:prstGeom prst="flowChartExtra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" name="Schemat blokowy: wyodrębnianie 5"/>
          <p:cNvSpPr/>
          <p:nvPr/>
        </p:nvSpPr>
        <p:spPr>
          <a:xfrm rot="10800000">
            <a:off x="468000" y="620640"/>
            <a:ext cx="8208360" cy="1799640"/>
          </a:xfrm>
          <a:prstGeom prst="flowChartExtra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" name="pole tekstowe 3"/>
          <p:cNvSpPr/>
          <p:nvPr/>
        </p:nvSpPr>
        <p:spPr>
          <a:xfrm>
            <a:off x="3636000" y="744480"/>
            <a:ext cx="19436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Co użytkownik </a:t>
            </a:r>
            <a:br>
              <a:rPr sz="1400"/>
            </a:b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myśli i czuje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ole tekstowe 7"/>
          <p:cNvSpPr/>
          <p:nvPr/>
        </p:nvSpPr>
        <p:spPr>
          <a:xfrm>
            <a:off x="3708000" y="3027600"/>
            <a:ext cx="19076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Co użytkownik </a:t>
            </a:r>
            <a:br>
              <a:rPr sz="1400"/>
            </a:b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mówi  i robi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rostokąt 4"/>
          <p:cNvSpPr/>
          <p:nvPr/>
        </p:nvSpPr>
        <p:spPr>
          <a:xfrm>
            <a:off x="467640" y="4437000"/>
            <a:ext cx="4103640" cy="223164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" name="Prostokąt 9"/>
          <p:cNvSpPr/>
          <p:nvPr/>
        </p:nvSpPr>
        <p:spPr>
          <a:xfrm>
            <a:off x="4601160" y="4437000"/>
            <a:ext cx="4103640" cy="223164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" name="Trójkąt równoramienny 6"/>
          <p:cNvSpPr/>
          <p:nvPr/>
        </p:nvSpPr>
        <p:spPr>
          <a:xfrm rot="16200000">
            <a:off x="5044320" y="560520"/>
            <a:ext cx="3475800" cy="3844800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Trójkąt równoramienny 12"/>
          <p:cNvSpPr/>
          <p:nvPr/>
        </p:nvSpPr>
        <p:spPr>
          <a:xfrm flipV="1" rot="16200000">
            <a:off x="652320" y="522000"/>
            <a:ext cx="3513240" cy="3881880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" name="pole tekstowe 14"/>
          <p:cNvSpPr/>
          <p:nvPr/>
        </p:nvSpPr>
        <p:spPr>
          <a:xfrm>
            <a:off x="6498360" y="2048760"/>
            <a:ext cx="16736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Co użytkownik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widzi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ole tekstowe 15"/>
          <p:cNvSpPr/>
          <p:nvPr/>
        </p:nvSpPr>
        <p:spPr>
          <a:xfrm>
            <a:off x="971640" y="2005920"/>
            <a:ext cx="17996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Co użytkownik</a:t>
            </a:r>
            <a:br>
              <a:rPr sz="1400"/>
            </a:b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słyszy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ole tekstowe 16"/>
          <p:cNvSpPr/>
          <p:nvPr/>
        </p:nvSpPr>
        <p:spPr>
          <a:xfrm>
            <a:off x="1691640" y="4599000"/>
            <a:ext cx="19436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Bolączki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, </a:t>
            </a:r>
            <a:br>
              <a:rPr sz="1400"/>
            </a:b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obawy, frustracje?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ole tekstowe 17"/>
          <p:cNvSpPr/>
          <p:nvPr/>
        </p:nvSpPr>
        <p:spPr>
          <a:xfrm>
            <a:off x="5472000" y="4653000"/>
            <a:ext cx="20516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Korzyści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, </a:t>
            </a:r>
            <a:br>
              <a:rPr sz="1400"/>
            </a:b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pragnienia, potrzeby?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" name="Picture 2" descr=""/>
          <p:cNvPicPr/>
          <p:nvPr/>
        </p:nvPicPr>
        <p:blipFill>
          <a:blip r:embed="rId3"/>
          <a:stretch/>
        </p:blipFill>
        <p:spPr>
          <a:xfrm>
            <a:off x="4147920" y="1986840"/>
            <a:ext cx="847800" cy="95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2" descr=""/>
          <p:cNvPicPr/>
          <p:nvPr/>
        </p:nvPicPr>
        <p:blipFill>
          <a:blip r:embed="rId1"/>
          <a:stretch/>
        </p:blipFill>
        <p:spPr>
          <a:xfrm>
            <a:off x="28440" y="42840"/>
            <a:ext cx="9086040" cy="6771600"/>
          </a:xfrm>
          <a:prstGeom prst="rect">
            <a:avLst/>
          </a:prstGeom>
          <a:ln w="0">
            <a:noFill/>
          </a:ln>
        </p:spPr>
      </p:pic>
      <p:sp>
        <p:nvSpPr>
          <p:cNvPr id="68" name="pole tekstowe 1"/>
          <p:cNvSpPr/>
          <p:nvPr/>
        </p:nvSpPr>
        <p:spPr>
          <a:xfrm>
            <a:off x="5292000" y="87120"/>
            <a:ext cx="2231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l-PL" sz="2400" spc="-1" strike="noStrike">
                <a:solidFill>
                  <a:schemeClr val="dk1"/>
                </a:solidFill>
                <a:latin typeface="Calibri"/>
              </a:rPr>
              <a:t>Przykład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rostokąt 26"/>
          <p:cNvSpPr/>
          <p:nvPr/>
        </p:nvSpPr>
        <p:spPr>
          <a:xfrm>
            <a:off x="472320" y="3167640"/>
            <a:ext cx="8237160" cy="115092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rostokąt 29"/>
          <p:cNvSpPr/>
          <p:nvPr/>
        </p:nvSpPr>
        <p:spPr>
          <a:xfrm>
            <a:off x="467640" y="711360"/>
            <a:ext cx="2200320" cy="233892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1160"/>
            <a:ext cx="1824120" cy="534960"/>
          </a:xfrm>
          <a:prstGeom prst="rect">
            <a:avLst/>
          </a:prstGeom>
          <a:ln w="0">
            <a:noFill/>
          </a:ln>
        </p:spPr>
      </p:pic>
      <p:sp>
        <p:nvSpPr>
          <p:cNvPr id="72" name="pole tekstowe 32"/>
          <p:cNvSpPr/>
          <p:nvPr/>
        </p:nvSpPr>
        <p:spPr>
          <a:xfrm>
            <a:off x="1907640" y="177840"/>
            <a:ext cx="7128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pl-PL" sz="1800" spc="-1" strike="noStrike">
                <a:solidFill>
                  <a:schemeClr val="dk1"/>
                </a:solidFill>
                <a:latin typeface="Calibri"/>
              </a:rPr>
              <a:t>SZABLON WARSZTATOWY NR 5b – Szablon Persony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rostokąt 4"/>
          <p:cNvSpPr/>
          <p:nvPr/>
        </p:nvSpPr>
        <p:spPr>
          <a:xfrm>
            <a:off x="472320" y="5633280"/>
            <a:ext cx="4103640" cy="115092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rostokąt 9"/>
          <p:cNvSpPr/>
          <p:nvPr/>
        </p:nvSpPr>
        <p:spPr>
          <a:xfrm>
            <a:off x="4605840" y="5633280"/>
            <a:ext cx="4103640" cy="115092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Prostokąt 20"/>
          <p:cNvSpPr/>
          <p:nvPr/>
        </p:nvSpPr>
        <p:spPr>
          <a:xfrm>
            <a:off x="472320" y="4410000"/>
            <a:ext cx="4103640" cy="115092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rostokąt 21"/>
          <p:cNvSpPr/>
          <p:nvPr/>
        </p:nvSpPr>
        <p:spPr>
          <a:xfrm>
            <a:off x="4641840" y="4374000"/>
            <a:ext cx="4103640" cy="115092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pole tekstowe 27"/>
          <p:cNvSpPr/>
          <p:nvPr/>
        </p:nvSpPr>
        <p:spPr>
          <a:xfrm>
            <a:off x="472320" y="3167640"/>
            <a:ext cx="823716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Dane „uczłowieczające”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Hobby – granie na komputerze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Rodzina - żyje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Marzenia – godne zarobki + emerytura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Picture 2" descr=""/>
          <p:cNvPicPr/>
          <p:nvPr/>
        </p:nvPicPr>
        <p:blipFill>
          <a:blip r:embed="rId3"/>
          <a:stretch/>
        </p:blipFill>
        <p:spPr>
          <a:xfrm>
            <a:off x="719640" y="836640"/>
            <a:ext cx="1331280" cy="1497960"/>
          </a:xfrm>
          <a:prstGeom prst="rect">
            <a:avLst/>
          </a:prstGeom>
          <a:ln w="0">
            <a:noFill/>
          </a:ln>
        </p:spPr>
      </p:pic>
      <p:sp>
        <p:nvSpPr>
          <p:cNvPr id="79" name="pole tekstowe 30"/>
          <p:cNvSpPr/>
          <p:nvPr/>
        </p:nvSpPr>
        <p:spPr>
          <a:xfrm>
            <a:off x="395640" y="2422800"/>
            <a:ext cx="23709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Zdjęcie, Rysunek, Wizualizacja Twojego Klienta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rostokąt 33"/>
          <p:cNvSpPr/>
          <p:nvPr/>
        </p:nvSpPr>
        <p:spPr>
          <a:xfrm>
            <a:off x="2915640" y="1871280"/>
            <a:ext cx="5765760" cy="115092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pole tekstowe 34"/>
          <p:cNvSpPr/>
          <p:nvPr/>
        </p:nvSpPr>
        <p:spPr>
          <a:xfrm>
            <a:off x="2915640" y="1862280"/>
            <a:ext cx="53136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Podstawowe dane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Wiek - 20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Miejsce zamieszkania - Wrocław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Wyszkstałcenie - średnie (w trakcie studiów)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Praca - korepetytor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rostokąt 35"/>
          <p:cNvSpPr/>
          <p:nvPr/>
        </p:nvSpPr>
        <p:spPr>
          <a:xfrm>
            <a:off x="2915640" y="647640"/>
            <a:ext cx="5765760" cy="1150920"/>
          </a:xfrm>
          <a:prstGeom prst="rect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pl-PL" sz="1800" spc="-1" strike="noStrike">
                <a:solidFill>
                  <a:srgbClr val="000000"/>
                </a:solidFill>
                <a:latin typeface="Calibri"/>
              </a:rPr>
              <a:t>„</a:t>
            </a:r>
            <a:r>
              <a:rPr b="0" lang="pl-PL" sz="1800" spc="-1" strike="noStrike">
                <a:solidFill>
                  <a:srgbClr val="000000"/>
                </a:solidFill>
                <a:latin typeface="Calibri"/>
              </a:rPr>
              <a:t>Ucz się, ucz, bo nauka to potęgi klucz”</a:t>
            </a:r>
            <a:endParaRPr b="0" lang="pl-P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pole tekstowe 36"/>
          <p:cNvSpPr/>
          <p:nvPr/>
        </p:nvSpPr>
        <p:spPr>
          <a:xfrm>
            <a:off x="3886200" y="647640"/>
            <a:ext cx="3657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Motto życiowe Twojego Klienta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ole tekstowe 37"/>
          <p:cNvSpPr/>
          <p:nvPr/>
        </p:nvSpPr>
        <p:spPr>
          <a:xfrm>
            <a:off x="467640" y="4419000"/>
            <a:ext cx="31676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Cechy osobowościowe i charakteru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społeczny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Chętny do rozwoju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pomocny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ole tekstowe 38"/>
          <p:cNvSpPr/>
          <p:nvPr/>
        </p:nvSpPr>
        <p:spPr>
          <a:xfrm>
            <a:off x="4644000" y="4419000"/>
            <a:ext cx="4042800" cy="94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Umiejętności techniczne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Obsługa komputera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Umiejętności techniczne, obsługa telefonu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Radzenie sobie z trudnymi dziećmi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ole tekstowe 39"/>
          <p:cNvSpPr/>
          <p:nvPr/>
        </p:nvSpPr>
        <p:spPr>
          <a:xfrm>
            <a:off x="472320" y="5633280"/>
            <a:ext cx="41464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pl-PL" sz="1200" spc="-1" strike="noStrike" u="sng">
                <a:solidFill>
                  <a:schemeClr val="dk2"/>
                </a:solidFill>
                <a:uFillTx/>
                <a:latin typeface="Calibri"/>
              </a:rPr>
              <a:t>Doświadczenia/ Nawyki/ Oczekiwania wobec produktu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200" spc="-1" strike="noStrike">
                <a:solidFill>
                  <a:schemeClr val="dk1"/>
                </a:solidFill>
                <a:latin typeface="Calibri"/>
              </a:rPr>
              <a:t>Obeznany z akademickim sposobem nauczania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200" spc="-1" strike="noStrike">
                <a:solidFill>
                  <a:schemeClr val="dk1"/>
                </a:solidFill>
                <a:latin typeface="Calibri"/>
              </a:rPr>
              <a:t>Chce podnieść poziom edukacji w Polsce 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200" spc="-1" strike="noStrike">
                <a:solidFill>
                  <a:schemeClr val="dk1"/>
                </a:solidFill>
                <a:latin typeface="Calibri"/>
              </a:rPr>
              <a:t>Zarobki adekwatne do jego umiejętności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ole tekstowe 40"/>
          <p:cNvSpPr/>
          <p:nvPr/>
        </p:nvSpPr>
        <p:spPr>
          <a:xfrm>
            <a:off x="4619160" y="5639040"/>
            <a:ext cx="4067640" cy="94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pl-PL" sz="1400" spc="-1" strike="noStrike" u="sng">
                <a:solidFill>
                  <a:schemeClr val="dk2"/>
                </a:solidFill>
                <a:uFillTx/>
                <a:latin typeface="Calibri"/>
              </a:rPr>
              <a:t>Podsumowanie i dodatkowe informacje</a:t>
            </a: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Ma młodsze rozdzeństwo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Introwetryk, ale lubi dzielić się wiedzą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l-PL" sz="1400" spc="-1" strike="noStrike">
                <a:solidFill>
                  <a:schemeClr val="dk1"/>
                </a:solidFill>
                <a:latin typeface="Calibri"/>
              </a:rPr>
              <a:t>Oczekuje rozsądnego wynagrodzenia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2" descr=""/>
          <p:cNvPicPr/>
          <p:nvPr/>
        </p:nvPicPr>
        <p:blipFill>
          <a:blip r:embed="rId1"/>
          <a:stretch/>
        </p:blipFill>
        <p:spPr>
          <a:xfrm>
            <a:off x="35640" y="44640"/>
            <a:ext cx="9205560" cy="6885000"/>
          </a:xfrm>
          <a:prstGeom prst="rect">
            <a:avLst/>
          </a:prstGeom>
          <a:ln w="0">
            <a:noFill/>
          </a:ln>
        </p:spPr>
      </p:pic>
      <p:sp>
        <p:nvSpPr>
          <p:cNvPr id="89" name="pole tekstowe 2"/>
          <p:cNvSpPr/>
          <p:nvPr/>
        </p:nvSpPr>
        <p:spPr>
          <a:xfrm>
            <a:off x="5580000" y="116640"/>
            <a:ext cx="2231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pl-PL" sz="2400" spc="-1" strike="noStrike">
                <a:solidFill>
                  <a:schemeClr val="dk1"/>
                </a:solidFill>
                <a:latin typeface="Calibri"/>
              </a:rPr>
              <a:t>Przykład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2171</TotalTime>
  <Application>LibreOffice/24.2.7.2$Linux_X86_64 LibreOffice_project/420$Build-2</Application>
  <AppVersion>15.0000</AppVersion>
  <Words>129</Words>
  <Paragraphs>71</Paragraphs>
  <Company>Hewlett-Packard Company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2018-04-11T14:57:30Z</dcterms:created>
  <dc:creator>Piotr Kubiński</dc:creator>
  <dc:description/>
  <dc:language>en-US</dc:language>
  <cp:lastModifiedBy/>
  <cp:lastPrinted>2018-05-08T14:24:55Z</cp:lastPrinted>
  <dcterms:modified xsi:type="dcterms:W3CDTF">2026-05-06T16:09:45Z</dcterms:modified>
  <cp:revision>71</cp:revision>
  <dc:subject/>
  <dc:title>Prezentacja programu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Pokaz na ekranie (4:3)</vt:lpwstr>
  </property>
  <property fmtid="{D5CDD505-2E9C-101B-9397-08002B2CF9AE}" pid="3" name="Slides">
    <vt:i4>5</vt:i4>
  </property>
</Properties>
</file>