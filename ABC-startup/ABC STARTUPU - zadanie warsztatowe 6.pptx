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2746F0-C9DC-4EC3-919F-F1669C479C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F80A58-62EE-470D-8712-C7F842BEEB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0BE30B8-1E4C-4EC2-9413-AE5DC4543C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AB9DD6-4DE9-40E7-9629-7994FA48FA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FC2FBD4-1E26-4D54-BD71-E6D9C73821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FBF5007-17A9-4517-8F25-6BA0B2458A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8C4A38D-1D4B-4B18-B008-F83595BA4D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7D2F4BF-5DA2-4B60-A4BA-C38D220D41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88A3406-5B61-4CE8-A11F-5E65B776D6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4062483-E6BA-4EB4-BAB1-49A874E044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FAE3512-F165-47C9-AE7E-FB491F97CF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CF61BC-11DF-4A3E-A1E0-FF9114BAEE1B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8F7847-C6E8-442F-ADB7-DF1EC047E44F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045AD5-8914-48EF-A60A-2BA2FBBA7C17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FE9474-F5A5-4D6A-BDC1-74447CA2F2D1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4000" spc="-1" strike="noStrike" cap="all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l-PL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Kliknij, aby edytować style wzorca tekstu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248F03-9D24-451B-80E4-7B4C44C999A3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CE116D-A408-43CF-89BB-9D6D1FA19C6D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D6849D-7F2C-4458-A442-C231053377DE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931A9-145E-4DDF-AB49-7531B6BD7B18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71048D-F441-4DF7-B1EF-9D15C7B12063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D2F29-021F-44C1-8C06-6E2E35C72B05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B63D89-6BF1-430C-A741-450CED82B392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7640" y="523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Zadanie nr 6 – Opracowanie MVP</a:t>
            </a:r>
            <a:endParaRPr b="0" lang="pl-PL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7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23640" y="2421000"/>
            <a:ext cx="8424360" cy="356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Opracowanie założeń MVP – Minimum Viable Product (minimalnie satysfakcjonujący produkt)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pl-PL" sz="3200" spc="-1" strike="noStrike">
                <a:solidFill>
                  <a:schemeClr val="dk1"/>
                </a:solidFill>
                <a:latin typeface="Calibri"/>
              </a:rPr>
              <a:t>Minimum Viable Product (MVP)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71" name="Elipsa 3"/>
          <p:cNvSpPr/>
          <p:nvPr/>
        </p:nvSpPr>
        <p:spPr>
          <a:xfrm>
            <a:off x="1187640" y="2853000"/>
            <a:ext cx="4032000" cy="2808000"/>
          </a:xfrm>
          <a:prstGeom prst="ellipse">
            <a:avLst/>
          </a:prstGeom>
          <a:noFill/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Elipsa 7"/>
          <p:cNvSpPr/>
          <p:nvPr/>
        </p:nvSpPr>
        <p:spPr>
          <a:xfrm>
            <a:off x="3708000" y="2853000"/>
            <a:ext cx="4032000" cy="2808000"/>
          </a:xfrm>
          <a:prstGeom prst="ellipse">
            <a:avLst/>
          </a:prstGeom>
          <a:noFill/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Prostokąt 5"/>
          <p:cNvSpPr/>
          <p:nvPr/>
        </p:nvSpPr>
        <p:spPr>
          <a:xfrm>
            <a:off x="2040120" y="3795480"/>
            <a:ext cx="162144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Minimum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(zły produkt, </a:t>
            </a:r>
            <a:br>
              <a:rPr sz="1400"/>
            </a:b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którego nikt </a:t>
            </a:r>
            <a:br>
              <a:rPr sz="1400"/>
            </a:b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nie chce używać)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rostokąt 6"/>
          <p:cNvSpPr/>
          <p:nvPr/>
        </p:nvSpPr>
        <p:spPr>
          <a:xfrm>
            <a:off x="5333400" y="3826080"/>
            <a:ext cx="187740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Viable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(produkt oferowany </a:t>
            </a:r>
            <a:br>
              <a:rPr sz="1400"/>
            </a:b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przez firmy </a:t>
            </a:r>
            <a:br>
              <a:rPr sz="1400"/>
            </a:b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o dużym potencjale)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rostokąt 9"/>
          <p:cNvSpPr/>
          <p:nvPr/>
        </p:nvSpPr>
        <p:spPr>
          <a:xfrm>
            <a:off x="2354760" y="1625040"/>
            <a:ext cx="41328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2000" spc="-1" strike="noStrike">
                <a:solidFill>
                  <a:srgbClr val="000000"/>
                </a:solidFill>
                <a:latin typeface="Calibri"/>
              </a:rPr>
              <a:t>Minimum + Viable </a:t>
            </a:r>
            <a:br>
              <a:rPr sz="2000"/>
            </a:br>
            <a:r>
              <a:rPr b="0" lang="pl-PL" sz="1400" spc="-1" strike="noStrike">
                <a:solidFill>
                  <a:srgbClr val="000000"/>
                </a:solidFill>
                <a:latin typeface="Calibri"/>
              </a:rPr>
              <a:t>(dobry produkt do zaoferowania przez start-up)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trzałka w dół 10"/>
          <p:cNvSpPr/>
          <p:nvPr/>
        </p:nvSpPr>
        <p:spPr>
          <a:xfrm flipV="1">
            <a:off x="4284000" y="2457000"/>
            <a:ext cx="222480" cy="1798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MVP</a:t>
            </a:r>
            <a:endParaRPr b="0" lang="pl-PL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480" cy="53532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2" descr=""/>
          <p:cNvPicPr/>
          <p:nvPr/>
        </p:nvPicPr>
        <p:blipFill>
          <a:blip r:embed="rId3"/>
          <a:stretch/>
        </p:blipFill>
        <p:spPr>
          <a:xfrm>
            <a:off x="395640" y="1052640"/>
            <a:ext cx="8064360" cy="523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MVP</a:t>
            </a:r>
            <a:endParaRPr b="0" lang="pl-PL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1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82" name="Trójkąt równoramienny 2"/>
          <p:cNvSpPr/>
          <p:nvPr/>
        </p:nvSpPr>
        <p:spPr>
          <a:xfrm>
            <a:off x="323640" y="1412640"/>
            <a:ext cx="4176000" cy="326592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rójkąt równoramienny 6"/>
          <p:cNvSpPr/>
          <p:nvPr/>
        </p:nvSpPr>
        <p:spPr>
          <a:xfrm>
            <a:off x="4932000" y="1386720"/>
            <a:ext cx="4176000" cy="3265920"/>
          </a:xfrm>
          <a:prstGeom prst="triangle">
            <a:avLst>
              <a:gd name="adj" fmla="val 49178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rapez 8"/>
          <p:cNvSpPr/>
          <p:nvPr/>
        </p:nvSpPr>
        <p:spPr>
          <a:xfrm flipH="1" flipV="1" rot="10800000">
            <a:off x="311040" y="4148640"/>
            <a:ext cx="4176000" cy="529560"/>
          </a:xfrm>
          <a:prstGeom prst="trapezoid">
            <a:avLst>
              <a:gd name="adj" fmla="val 641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rapez 9"/>
          <p:cNvSpPr/>
          <p:nvPr/>
        </p:nvSpPr>
        <p:spPr>
          <a:xfrm flipH="1" flipV="1" rot="18144600">
            <a:off x="4270320" y="2881080"/>
            <a:ext cx="3863520" cy="558000"/>
          </a:xfrm>
          <a:prstGeom prst="trapezoid">
            <a:avLst>
              <a:gd name="adj" fmla="val 5411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6" name="Łącznik prostoliniowy 5"/>
          <p:cNvCxnSpPr/>
          <p:nvPr/>
        </p:nvCxnSpPr>
        <p:spPr>
          <a:xfrm>
            <a:off x="755280" y="4005000"/>
            <a:ext cx="331272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87" name="Łącznik prostoliniowy 11"/>
          <p:cNvCxnSpPr/>
          <p:nvPr/>
        </p:nvCxnSpPr>
        <p:spPr>
          <a:xfrm>
            <a:off x="1043280" y="3501000"/>
            <a:ext cx="273672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88" name="Łącznik prostoliniowy 14"/>
          <p:cNvCxnSpPr/>
          <p:nvPr/>
        </p:nvCxnSpPr>
        <p:spPr>
          <a:xfrm>
            <a:off x="1475640" y="2924640"/>
            <a:ext cx="187236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89" name="Łącznik prostoliniowy 18"/>
          <p:cNvCxnSpPr/>
          <p:nvPr/>
        </p:nvCxnSpPr>
        <p:spPr>
          <a:xfrm>
            <a:off x="1835640" y="2348640"/>
            <a:ext cx="115236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90" name="Łącznik prostoliniowy 25"/>
          <p:cNvCxnSpPr/>
          <p:nvPr/>
        </p:nvCxnSpPr>
        <p:spPr>
          <a:xfrm>
            <a:off x="5364000" y="4005000"/>
            <a:ext cx="331272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91" name="Łącznik prostoliniowy 26"/>
          <p:cNvCxnSpPr/>
          <p:nvPr/>
        </p:nvCxnSpPr>
        <p:spPr>
          <a:xfrm>
            <a:off x="5652000" y="3501000"/>
            <a:ext cx="273672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sp>
        <p:nvSpPr>
          <p:cNvPr id="92" name="pole tekstowe 2053"/>
          <p:cNvSpPr/>
          <p:nvPr/>
        </p:nvSpPr>
        <p:spPr>
          <a:xfrm>
            <a:off x="1475640" y="4207680"/>
            <a:ext cx="180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Funkcjonalny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ole tekstowe 39"/>
          <p:cNvSpPr/>
          <p:nvPr/>
        </p:nvSpPr>
        <p:spPr>
          <a:xfrm>
            <a:off x="1475640" y="3573000"/>
            <a:ext cx="180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Niezawodny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ole tekstowe 41"/>
          <p:cNvSpPr/>
          <p:nvPr/>
        </p:nvSpPr>
        <p:spPr>
          <a:xfrm>
            <a:off x="1511640" y="3007440"/>
            <a:ext cx="180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Użyteczny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ole tekstowe 42"/>
          <p:cNvSpPr/>
          <p:nvPr/>
        </p:nvSpPr>
        <p:spPr>
          <a:xfrm>
            <a:off x="1511640" y="2349000"/>
            <a:ext cx="180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Wygodny w zakupie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ole tekstowe 43"/>
          <p:cNvSpPr/>
          <p:nvPr/>
        </p:nvSpPr>
        <p:spPr>
          <a:xfrm>
            <a:off x="1475640" y="1709280"/>
            <a:ext cx="180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Zach</a:t>
            </a:r>
            <a:br>
              <a:rPr sz="1800"/>
            </a:b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wycający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ole tekstowe 2054"/>
          <p:cNvSpPr/>
          <p:nvPr/>
        </p:nvSpPr>
        <p:spPr>
          <a:xfrm>
            <a:off x="323640" y="4797000"/>
            <a:ext cx="424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Wiele cech słabo opracowanych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ole tekstowe 52"/>
          <p:cNvSpPr/>
          <p:nvPr/>
        </p:nvSpPr>
        <p:spPr>
          <a:xfrm>
            <a:off x="5148000" y="4797000"/>
            <a:ext cx="424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Kluczowe cechy opracowane dobrze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trzałka w dół 2056"/>
          <p:cNvSpPr/>
          <p:nvPr/>
        </p:nvSpPr>
        <p:spPr>
          <a:xfrm>
            <a:off x="179640" y="3160440"/>
            <a:ext cx="287640" cy="1276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pole tekstowe 2057"/>
          <p:cNvSpPr/>
          <p:nvPr/>
        </p:nvSpPr>
        <p:spPr>
          <a:xfrm>
            <a:off x="-72360" y="2325600"/>
            <a:ext cx="158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To nie jest dobry MVP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ole tekstowe 56"/>
          <p:cNvSpPr/>
          <p:nvPr/>
        </p:nvSpPr>
        <p:spPr>
          <a:xfrm>
            <a:off x="4284000" y="1628640"/>
            <a:ext cx="1583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To jest prawdziwy</a:t>
            </a:r>
            <a:br>
              <a:rPr sz="1800"/>
            </a:b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MVP!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trzałka w dół 57"/>
          <p:cNvSpPr/>
          <p:nvPr/>
        </p:nvSpPr>
        <p:spPr>
          <a:xfrm rot="19769400">
            <a:off x="5319000" y="2508840"/>
            <a:ext cx="287640" cy="8996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03" name="Łącznik prostoliniowy 33"/>
          <p:cNvCxnSpPr/>
          <p:nvPr/>
        </p:nvCxnSpPr>
        <p:spPr>
          <a:xfrm>
            <a:off x="5652000" y="3492360"/>
            <a:ext cx="273672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04" name="Łącznik prostoliniowy 34"/>
          <p:cNvCxnSpPr/>
          <p:nvPr/>
        </p:nvCxnSpPr>
        <p:spPr>
          <a:xfrm>
            <a:off x="6084000" y="2916360"/>
            <a:ext cx="187272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05" name="Łącznik prostoliniowy 35"/>
          <p:cNvCxnSpPr/>
          <p:nvPr/>
        </p:nvCxnSpPr>
        <p:spPr>
          <a:xfrm>
            <a:off x="6444000" y="2340360"/>
            <a:ext cx="1152360" cy="3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sp>
        <p:nvSpPr>
          <p:cNvPr id="106" name="pole tekstowe 36"/>
          <p:cNvSpPr/>
          <p:nvPr/>
        </p:nvSpPr>
        <p:spPr>
          <a:xfrm>
            <a:off x="6084000" y="4199040"/>
            <a:ext cx="180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Funkcjonalny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ole tekstowe 37"/>
          <p:cNvSpPr/>
          <p:nvPr/>
        </p:nvSpPr>
        <p:spPr>
          <a:xfrm>
            <a:off x="6084000" y="3564720"/>
            <a:ext cx="180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Niezawodny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ole tekstowe 38"/>
          <p:cNvSpPr/>
          <p:nvPr/>
        </p:nvSpPr>
        <p:spPr>
          <a:xfrm>
            <a:off x="6120000" y="2999160"/>
            <a:ext cx="180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Użyteczny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ole tekstowe 40"/>
          <p:cNvSpPr/>
          <p:nvPr/>
        </p:nvSpPr>
        <p:spPr>
          <a:xfrm>
            <a:off x="6120000" y="2340360"/>
            <a:ext cx="180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Wygodny w zakupie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ole tekstowe 51"/>
          <p:cNvSpPr/>
          <p:nvPr/>
        </p:nvSpPr>
        <p:spPr>
          <a:xfrm>
            <a:off x="6084000" y="1700640"/>
            <a:ext cx="180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Zach</a:t>
            </a:r>
            <a:br>
              <a:rPr sz="1800"/>
            </a:br>
            <a:r>
              <a:rPr b="1" lang="pl-PL" sz="1800" spc="-1" strike="noStrike">
                <a:solidFill>
                  <a:schemeClr val="lt1"/>
                </a:solidFill>
                <a:latin typeface="Calibri"/>
              </a:rPr>
              <a:t>wycający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Zadanie nr 6 -  MVP</a:t>
            </a:r>
            <a:endParaRPr b="0" lang="pl-PL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2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323640" y="1124640"/>
            <a:ext cx="8424360" cy="48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Proszę się zastanowić nad: 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cechami produktu, które są niezbędne – Must-have,  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cechami produktu, które są pożądane – Nice-to-have,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cechami produktu, które są łatwe do wdrożenia – Easy 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cechami produktu, które są trudne do wdrożenia – Hard 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Następnie proszę wpisać cechy produktu do macierzy na następnym slajdzie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ole tekstowe 12"/>
          <p:cNvSpPr/>
          <p:nvPr/>
        </p:nvSpPr>
        <p:spPr>
          <a:xfrm>
            <a:off x="0" y="3358800"/>
            <a:ext cx="1295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EASY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(łatwe do</a:t>
            </a:r>
            <a:br>
              <a:rPr sz="1200"/>
            </a:b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wdrożenia)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ole tekstowe 19"/>
          <p:cNvSpPr/>
          <p:nvPr/>
        </p:nvSpPr>
        <p:spPr>
          <a:xfrm>
            <a:off x="3092040" y="764640"/>
            <a:ext cx="3207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NICE – TO – HAVE </a:t>
            </a: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(pożądane)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ole tekstowe 20"/>
          <p:cNvSpPr/>
          <p:nvPr/>
        </p:nvSpPr>
        <p:spPr>
          <a:xfrm>
            <a:off x="7956360" y="3365280"/>
            <a:ext cx="1367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HARD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(trudne do</a:t>
            </a:r>
            <a:br>
              <a:rPr sz="1200"/>
            </a:b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wdrożenia)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11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118" name="pole tekstowe 32"/>
          <p:cNvSpPr/>
          <p:nvPr/>
        </p:nvSpPr>
        <p:spPr>
          <a:xfrm>
            <a:off x="1907640" y="177840"/>
            <a:ext cx="5400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SZABLON WARSZTATOWY NR 6 </a:t>
            </a:r>
            <a:br>
              <a:rPr sz="1800"/>
            </a:b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– CECHY MVP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9" name="Łącznik prostoliniowy 27"/>
          <p:cNvCxnSpPr/>
          <p:nvPr/>
        </p:nvCxnSpPr>
        <p:spPr>
          <a:xfrm>
            <a:off x="4207680" y="1134000"/>
            <a:ext cx="360" cy="5166360"/>
          </a:xfrm>
          <a:prstGeom prst="straightConnector1">
            <a:avLst/>
          </a:prstGeom>
          <a:ln w="31750">
            <a:solidFill>
              <a:srgbClr val="4a7ebb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20" name="Łącznik prostoliniowy 30"/>
          <p:cNvCxnSpPr/>
          <p:nvPr/>
        </p:nvCxnSpPr>
        <p:spPr>
          <a:xfrm>
            <a:off x="611280" y="3563640"/>
            <a:ext cx="7705440" cy="360"/>
          </a:xfrm>
          <a:prstGeom prst="straightConnector1">
            <a:avLst/>
          </a:prstGeom>
          <a:ln w="31750">
            <a:solidFill>
              <a:srgbClr val="4a7ebb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21" name="pole tekstowe 38"/>
          <p:cNvSpPr/>
          <p:nvPr/>
        </p:nvSpPr>
        <p:spPr>
          <a:xfrm>
            <a:off x="3106800" y="6444000"/>
            <a:ext cx="2232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MUST– HAVE </a:t>
            </a: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(konieczne)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ole tekstowe 12"/>
          <p:cNvSpPr/>
          <p:nvPr/>
        </p:nvSpPr>
        <p:spPr>
          <a:xfrm>
            <a:off x="0" y="3358800"/>
            <a:ext cx="1295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EASY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(łatwe do</a:t>
            </a:r>
            <a:br>
              <a:rPr sz="1200"/>
            </a:b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wdrożenia)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ole tekstowe 19"/>
          <p:cNvSpPr/>
          <p:nvPr/>
        </p:nvSpPr>
        <p:spPr>
          <a:xfrm>
            <a:off x="3092040" y="764640"/>
            <a:ext cx="3207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NICE – TO – HAVE </a:t>
            </a: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(pożądane)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ole tekstowe 20"/>
          <p:cNvSpPr/>
          <p:nvPr/>
        </p:nvSpPr>
        <p:spPr>
          <a:xfrm>
            <a:off x="7956360" y="3365280"/>
            <a:ext cx="1367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HARD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(trudne do</a:t>
            </a:r>
            <a:br>
              <a:rPr sz="1200"/>
            </a:b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wdrożenia)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11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126" name="pole tekstowe 32"/>
          <p:cNvSpPr/>
          <p:nvPr/>
        </p:nvSpPr>
        <p:spPr>
          <a:xfrm>
            <a:off x="1907640" y="177840"/>
            <a:ext cx="5400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SZABLON WARSZTATOWY NR 6 </a:t>
            </a:r>
            <a:br>
              <a:rPr sz="1800"/>
            </a:b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– CECHY MVP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7" name="Łącznik prostoliniowy 27"/>
          <p:cNvCxnSpPr/>
          <p:nvPr/>
        </p:nvCxnSpPr>
        <p:spPr>
          <a:xfrm>
            <a:off x="4207680" y="1134000"/>
            <a:ext cx="360" cy="5166360"/>
          </a:xfrm>
          <a:prstGeom prst="straightConnector1">
            <a:avLst/>
          </a:prstGeom>
          <a:ln w="31750">
            <a:solidFill>
              <a:srgbClr val="4a7ebb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28" name="Łącznik prostoliniowy 30"/>
          <p:cNvCxnSpPr/>
          <p:nvPr/>
        </p:nvCxnSpPr>
        <p:spPr>
          <a:xfrm>
            <a:off x="611280" y="3563640"/>
            <a:ext cx="7705440" cy="360"/>
          </a:xfrm>
          <a:prstGeom prst="straightConnector1">
            <a:avLst/>
          </a:prstGeom>
          <a:ln w="31750">
            <a:solidFill>
              <a:srgbClr val="4a7ebb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29" name="pole tekstowe 38"/>
          <p:cNvSpPr/>
          <p:nvPr/>
        </p:nvSpPr>
        <p:spPr>
          <a:xfrm>
            <a:off x="3106800" y="6444000"/>
            <a:ext cx="2232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MUST– HAVE </a:t>
            </a: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(konieczne)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ole tekstowe 9"/>
          <p:cNvSpPr/>
          <p:nvPr/>
        </p:nvSpPr>
        <p:spPr>
          <a:xfrm>
            <a:off x="867600" y="4509000"/>
            <a:ext cx="3207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ole tekstowe 1"/>
          <p:cNvSpPr/>
          <p:nvPr/>
        </p:nvSpPr>
        <p:spPr>
          <a:xfrm>
            <a:off x="228600" y="1143000"/>
            <a:ext cx="38862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Dodawanie opinii o korepetytorze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Wewnętrzny komunikator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Grafik korepetytora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ole tekstowe 3"/>
          <p:cNvSpPr/>
          <p:nvPr/>
        </p:nvSpPr>
        <p:spPr>
          <a:xfrm>
            <a:off x="302040" y="4343400"/>
            <a:ext cx="381276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Serwer do aplikacji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Stworzenie strony internetowej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Reklama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Podstawowa baza korepetytorów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Mozliwość doboru korepetytora po lokalizacji (najlepszego)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ole tekstowe 4"/>
          <p:cNvSpPr/>
          <p:nvPr/>
        </p:nvSpPr>
        <p:spPr>
          <a:xfrm>
            <a:off x="4343400" y="4345200"/>
            <a:ext cx="4114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Obsługa płatności online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Weryfikacja tożsamości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Możliwość wyboru korepetytorów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ole tekstowe 2"/>
          <p:cNvSpPr/>
          <p:nvPr/>
        </p:nvSpPr>
        <p:spPr>
          <a:xfrm>
            <a:off x="4343400" y="1371600"/>
            <a:ext cx="4114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Programy lojalnościowe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Serwis do pomocy klienta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ole tekstowe 12"/>
          <p:cNvSpPr/>
          <p:nvPr/>
        </p:nvSpPr>
        <p:spPr>
          <a:xfrm>
            <a:off x="1143000" y="3358800"/>
            <a:ext cx="971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EASY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(łatwe do</a:t>
            </a:r>
            <a:br>
              <a:rPr sz="1200"/>
            </a:b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wdrożenia)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ole tekstowe 19"/>
          <p:cNvSpPr/>
          <p:nvPr/>
        </p:nvSpPr>
        <p:spPr>
          <a:xfrm>
            <a:off x="3461760" y="764640"/>
            <a:ext cx="2405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NICE – TO – HAVE </a:t>
            </a: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(pożądane)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ole tekstowe 20"/>
          <p:cNvSpPr/>
          <p:nvPr/>
        </p:nvSpPr>
        <p:spPr>
          <a:xfrm>
            <a:off x="7110360" y="3365280"/>
            <a:ext cx="1025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HARD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(trudne do</a:t>
            </a:r>
            <a:br>
              <a:rPr sz="1200"/>
            </a:b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wdrożenia)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793880" cy="535320"/>
          </a:xfrm>
          <a:prstGeom prst="rect">
            <a:avLst/>
          </a:prstGeom>
          <a:ln w="0">
            <a:noFill/>
          </a:ln>
        </p:spPr>
      </p:pic>
      <p:sp>
        <p:nvSpPr>
          <p:cNvPr id="139" name="pole tekstowe 32"/>
          <p:cNvSpPr/>
          <p:nvPr/>
        </p:nvSpPr>
        <p:spPr>
          <a:xfrm>
            <a:off x="1979640" y="177840"/>
            <a:ext cx="4599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Przykład cech MVP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0" name="Łącznik prostoliniowy 27"/>
          <p:cNvCxnSpPr/>
          <p:nvPr/>
        </p:nvCxnSpPr>
        <p:spPr>
          <a:xfrm>
            <a:off x="4298760" y="1134000"/>
            <a:ext cx="360" cy="5166360"/>
          </a:xfrm>
          <a:prstGeom prst="straightConnector1">
            <a:avLst/>
          </a:prstGeom>
          <a:ln w="31750">
            <a:solidFill>
              <a:srgbClr val="4a7ebb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41" name="Łącznik prostoliniowy 30"/>
          <p:cNvCxnSpPr/>
          <p:nvPr/>
        </p:nvCxnSpPr>
        <p:spPr>
          <a:xfrm>
            <a:off x="1601640" y="3563640"/>
            <a:ext cx="5778720" cy="360"/>
          </a:xfrm>
          <a:prstGeom prst="straightConnector1">
            <a:avLst/>
          </a:prstGeom>
          <a:ln w="31750">
            <a:solidFill>
              <a:srgbClr val="4a7ebb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42" name="pole tekstowe 38"/>
          <p:cNvSpPr/>
          <p:nvPr/>
        </p:nvSpPr>
        <p:spPr>
          <a:xfrm>
            <a:off x="3472920" y="6309360"/>
            <a:ext cx="1674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MUST– HAVE </a:t>
            </a: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(konieczne)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ole tekstowe 10"/>
          <p:cNvSpPr/>
          <p:nvPr/>
        </p:nvSpPr>
        <p:spPr>
          <a:xfrm>
            <a:off x="1794240" y="3717000"/>
            <a:ext cx="22100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Umowy ze sklepami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Pudełka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Finansowanie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Zaufanie społeczeństwa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Reklama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System obsługujący zwroty i wypożyczenia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ole tekstowe 11"/>
          <p:cNvSpPr/>
          <p:nvPr/>
        </p:nvSpPr>
        <p:spPr>
          <a:xfrm>
            <a:off x="4421880" y="3728160"/>
            <a:ext cx="2745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Automaty z produktem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System dezynfekcji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ole tekstowe 13"/>
          <p:cNvSpPr/>
          <p:nvPr/>
        </p:nvSpPr>
        <p:spPr>
          <a:xfrm>
            <a:off x="1794240" y="1416240"/>
            <a:ext cx="2669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Punkt sprzedaży reklamówek wielokrotnego użytku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rostokąt 2"/>
          <p:cNvSpPr/>
          <p:nvPr/>
        </p:nvSpPr>
        <p:spPr>
          <a:xfrm>
            <a:off x="4421880" y="1416240"/>
            <a:ext cx="2688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Możliwość wyboru rodzaju pudełek, np. wielkości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chemat blokowy: terminator 14"/>
          <p:cNvSpPr/>
          <p:nvPr/>
        </p:nvSpPr>
        <p:spPr>
          <a:xfrm>
            <a:off x="6516360" y="336600"/>
            <a:ext cx="2517840" cy="1204560"/>
          </a:xfrm>
          <a:prstGeom prst="flowChartTerminator">
            <a:avLst/>
          </a:prstGeom>
          <a:solidFill>
            <a:schemeClr val="accent2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lt1"/>
                </a:solidFill>
                <a:latin typeface="Calibri"/>
              </a:rPr>
              <a:t>Aplikacja pokazująca miejsca akceptujące własne pojemniki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1123</TotalTime>
  <Application>LibreOffice/24.2.7.2$Linux_X86_64 LibreOffice_project/420$Build-2</Application>
  <AppVersion>15.0000</AppVersion>
  <Words>241</Words>
  <Paragraphs>64</Paragraphs>
  <Company>Hewlett-Packard Company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2018-04-11T14:57:30Z</dcterms:created>
  <dc:creator>Piotr Kubiński</dc:creator>
  <dc:description/>
  <dc:language>en-US</dc:language>
  <cp:lastModifiedBy/>
  <cp:lastPrinted>2018-05-08T14:24:55Z</cp:lastPrinted>
  <dcterms:modified xsi:type="dcterms:W3CDTF">2026-05-06T16:24:43Z</dcterms:modified>
  <cp:revision>61</cp:revision>
  <dc:subject/>
  <dc:title>Prezentacja programu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Pokaz na ekranie (4:3)</vt:lpwstr>
  </property>
  <property fmtid="{D5CDD505-2E9C-101B-9397-08002B2CF9AE}" pid="3" name="Slides">
    <vt:i4>8</vt:i4>
  </property>
</Properties>
</file>