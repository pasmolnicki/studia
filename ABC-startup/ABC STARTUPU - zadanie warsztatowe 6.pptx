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08788" cy="9940925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628" y="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 smtClean="0"/>
              <a:t>Kliknij, aby edytować styl wzorca podtytułu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69087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3902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7755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4814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67106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18627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98068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4614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 smtClean="0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26425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73467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7852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pl-PL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Kliknij, aby edytować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pl-PL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7FBAE6-AC88-4232-8E71-F8A7695D0022}" type="datetimeFigureOut">
              <a:rPr lang="pl-PL" smtClean="0"/>
              <a:t>22.04.2026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ADDEB8-B35A-4FF1-890E-0B536E05C45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06964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67544" y="523074"/>
            <a:ext cx="8229600" cy="1143000"/>
          </a:xfrm>
        </p:spPr>
        <p:txBody>
          <a:bodyPr>
            <a:normAutofit/>
          </a:bodyPr>
          <a:lstStyle/>
          <a:p>
            <a:r>
              <a:rPr lang="pl-PL" sz="3600" dirty="0" smtClean="0"/>
              <a:t>Zadanie nr </a:t>
            </a:r>
            <a:r>
              <a:rPr lang="pl-PL" sz="3600" dirty="0" smtClean="0"/>
              <a:t>6 </a:t>
            </a:r>
            <a:r>
              <a:rPr lang="pl-PL" sz="3600" dirty="0" smtClean="0"/>
              <a:t>– </a:t>
            </a:r>
            <a:r>
              <a:rPr lang="pl-PL" sz="3600" dirty="0"/>
              <a:t>Opracowanie </a:t>
            </a:r>
            <a:r>
              <a:rPr lang="pl-PL" sz="3600" dirty="0" smtClean="0"/>
              <a:t>MVP</a:t>
            </a:r>
            <a:endParaRPr lang="pl-PL" sz="3600" dirty="0"/>
          </a:p>
        </p:txBody>
      </p:sp>
      <p:pic>
        <p:nvPicPr>
          <p:cNvPr id="1028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8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ymbol zastępczy zawartości 2"/>
          <p:cNvSpPr>
            <a:spLocks noGrp="1"/>
          </p:cNvSpPr>
          <p:nvPr>
            <p:ph idx="1"/>
          </p:nvPr>
        </p:nvSpPr>
        <p:spPr>
          <a:xfrm>
            <a:off x="323528" y="2420888"/>
            <a:ext cx="8424862" cy="356478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l-PL" sz="2800" dirty="0" smtClean="0"/>
              <a:t>Opracowanie założeń </a:t>
            </a:r>
            <a:r>
              <a:rPr lang="pl-PL" sz="2800" dirty="0" smtClean="0"/>
              <a:t>MVP </a:t>
            </a:r>
            <a:r>
              <a:rPr lang="pl-PL" sz="2800" dirty="0" smtClean="0"/>
              <a:t>– Minimum </a:t>
            </a:r>
            <a:r>
              <a:rPr lang="pl-PL" sz="2800" dirty="0" err="1" smtClean="0"/>
              <a:t>Viable</a:t>
            </a:r>
            <a:r>
              <a:rPr lang="pl-PL" sz="2800" dirty="0" smtClean="0"/>
              <a:t> Product (minimalnie satysfakcjonujący produkt)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1097851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3200" b="1" dirty="0" smtClean="0"/>
              <a:t>Minimum </a:t>
            </a:r>
            <a:r>
              <a:rPr lang="pl-PL" sz="3200" b="1" dirty="0" err="1" smtClean="0"/>
              <a:t>Viable</a:t>
            </a:r>
            <a:r>
              <a:rPr lang="pl-PL" sz="3200" b="1" dirty="0" smtClean="0"/>
              <a:t> Product (MVP)</a:t>
            </a:r>
            <a:endParaRPr lang="pl-PL" sz="3200" b="1" dirty="0"/>
          </a:p>
        </p:txBody>
      </p:sp>
      <p:pic>
        <p:nvPicPr>
          <p:cNvPr id="1028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8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lipsa 3"/>
          <p:cNvSpPr/>
          <p:nvPr/>
        </p:nvSpPr>
        <p:spPr>
          <a:xfrm>
            <a:off x="1187624" y="2852936"/>
            <a:ext cx="4032448" cy="28083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Elipsa 7"/>
          <p:cNvSpPr/>
          <p:nvPr/>
        </p:nvSpPr>
        <p:spPr>
          <a:xfrm>
            <a:off x="3707904" y="2852936"/>
            <a:ext cx="4032448" cy="28083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/>
          <p:cNvSpPr/>
          <p:nvPr/>
        </p:nvSpPr>
        <p:spPr>
          <a:xfrm>
            <a:off x="2123728" y="3795427"/>
            <a:ext cx="1454565" cy="104644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sz="2000" dirty="0" smtClean="0"/>
              <a:t>Minimum </a:t>
            </a:r>
            <a:endParaRPr lang="pl-PL" dirty="0" smtClean="0"/>
          </a:p>
          <a:p>
            <a:r>
              <a:rPr lang="pl-PL" sz="1400" dirty="0" smtClean="0"/>
              <a:t>(zły produkt, </a:t>
            </a:r>
            <a:br>
              <a:rPr lang="pl-PL" sz="1400" dirty="0" smtClean="0"/>
            </a:br>
            <a:r>
              <a:rPr lang="pl-PL" sz="1400" dirty="0" smtClean="0"/>
              <a:t>którego nikt </a:t>
            </a:r>
            <a:br>
              <a:rPr lang="pl-PL" sz="1400" dirty="0" smtClean="0"/>
            </a:br>
            <a:r>
              <a:rPr lang="pl-PL" sz="1400" dirty="0" smtClean="0"/>
              <a:t>nie chce używać) </a:t>
            </a:r>
            <a:endParaRPr lang="pl-PL" sz="1400" dirty="0"/>
          </a:p>
        </p:txBody>
      </p:sp>
      <p:sp>
        <p:nvSpPr>
          <p:cNvPr id="7" name="Prostokąt 6"/>
          <p:cNvSpPr/>
          <p:nvPr/>
        </p:nvSpPr>
        <p:spPr>
          <a:xfrm>
            <a:off x="5436096" y="3825914"/>
            <a:ext cx="1672702" cy="104644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sz="2000" dirty="0" err="1" smtClean="0"/>
              <a:t>Viable</a:t>
            </a:r>
            <a:endParaRPr lang="pl-PL" dirty="0" smtClean="0"/>
          </a:p>
          <a:p>
            <a:r>
              <a:rPr lang="pl-PL" sz="1400" dirty="0" smtClean="0"/>
              <a:t>(produkt oferowany </a:t>
            </a:r>
            <a:br>
              <a:rPr lang="pl-PL" sz="1400" dirty="0" smtClean="0"/>
            </a:br>
            <a:r>
              <a:rPr lang="pl-PL" sz="1400" dirty="0" smtClean="0"/>
              <a:t>przez firmy </a:t>
            </a:r>
            <a:br>
              <a:rPr lang="pl-PL" sz="1400" dirty="0" smtClean="0"/>
            </a:br>
            <a:r>
              <a:rPr lang="pl-PL" sz="1400" dirty="0" smtClean="0"/>
              <a:t>o dużym potencjale)</a:t>
            </a:r>
            <a:endParaRPr lang="pl-PL" sz="1400" dirty="0"/>
          </a:p>
        </p:txBody>
      </p:sp>
      <p:sp>
        <p:nvSpPr>
          <p:cNvPr id="10" name="Prostokąt 9"/>
          <p:cNvSpPr/>
          <p:nvPr/>
        </p:nvSpPr>
        <p:spPr>
          <a:xfrm>
            <a:off x="2604783" y="1625004"/>
            <a:ext cx="3632534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/>
            <a:r>
              <a:rPr lang="pl-PL" sz="2000" dirty="0" smtClean="0">
                <a:solidFill>
                  <a:prstClr val="black"/>
                </a:solidFill>
              </a:rPr>
              <a:t>Minimum + </a:t>
            </a:r>
            <a:r>
              <a:rPr lang="pl-PL" sz="2000" dirty="0" err="1" smtClean="0">
                <a:solidFill>
                  <a:prstClr val="black"/>
                </a:solidFill>
              </a:rPr>
              <a:t>Viable</a:t>
            </a:r>
            <a:r>
              <a:rPr lang="pl-PL" sz="2000" dirty="0" smtClean="0">
                <a:solidFill>
                  <a:prstClr val="black"/>
                </a:solidFill>
              </a:rPr>
              <a:t> </a:t>
            </a:r>
            <a:br>
              <a:rPr lang="pl-PL" sz="2000" dirty="0" smtClean="0">
                <a:solidFill>
                  <a:prstClr val="black"/>
                </a:solidFill>
              </a:rPr>
            </a:br>
            <a:r>
              <a:rPr lang="pl-PL" sz="1400" dirty="0" smtClean="0">
                <a:solidFill>
                  <a:prstClr val="black"/>
                </a:solidFill>
              </a:rPr>
              <a:t>(dobry produkt do zaoferowania przez start-</a:t>
            </a:r>
            <a:r>
              <a:rPr lang="pl-PL" sz="1400" dirty="0" err="1" smtClean="0">
                <a:solidFill>
                  <a:prstClr val="black"/>
                </a:solidFill>
              </a:rPr>
              <a:t>up</a:t>
            </a:r>
            <a:r>
              <a:rPr lang="pl-PL" sz="1400" dirty="0" smtClean="0">
                <a:solidFill>
                  <a:prstClr val="black"/>
                </a:solidFill>
              </a:rPr>
              <a:t>)</a:t>
            </a:r>
            <a:endParaRPr lang="pl-PL" sz="1400" dirty="0">
              <a:solidFill>
                <a:prstClr val="black"/>
              </a:solidFill>
            </a:endParaRPr>
          </a:p>
        </p:txBody>
      </p:sp>
      <p:sp>
        <p:nvSpPr>
          <p:cNvPr id="11" name="Strzałka w dół 10"/>
          <p:cNvSpPr/>
          <p:nvPr/>
        </p:nvSpPr>
        <p:spPr>
          <a:xfrm flipV="1">
            <a:off x="4283968" y="2457806"/>
            <a:ext cx="222958" cy="179928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58677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3600" dirty="0" smtClean="0"/>
              <a:t>MVP</a:t>
            </a:r>
            <a:endParaRPr lang="pl-PL" sz="3600" dirty="0"/>
          </a:p>
        </p:txBody>
      </p:sp>
      <p:pic>
        <p:nvPicPr>
          <p:cNvPr id="1028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8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052736"/>
            <a:ext cx="8064896" cy="52330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3970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3600" dirty="0" smtClean="0"/>
              <a:t>MVP</a:t>
            </a:r>
            <a:endParaRPr lang="pl-PL" sz="3600" dirty="0"/>
          </a:p>
        </p:txBody>
      </p:sp>
      <p:pic>
        <p:nvPicPr>
          <p:cNvPr id="1028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8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rójkąt równoramienny 2"/>
          <p:cNvSpPr/>
          <p:nvPr/>
        </p:nvSpPr>
        <p:spPr>
          <a:xfrm>
            <a:off x="323528" y="1412776"/>
            <a:ext cx="4176464" cy="3266258"/>
          </a:xfrm>
          <a:prstGeom prst="triangl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Trójkąt równoramienny 6"/>
          <p:cNvSpPr/>
          <p:nvPr/>
        </p:nvSpPr>
        <p:spPr>
          <a:xfrm>
            <a:off x="4932040" y="1386878"/>
            <a:ext cx="4176464" cy="3266258"/>
          </a:xfrm>
          <a:prstGeom prst="triangle">
            <a:avLst>
              <a:gd name="adj" fmla="val 49178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rapez 8"/>
          <p:cNvSpPr/>
          <p:nvPr/>
        </p:nvSpPr>
        <p:spPr>
          <a:xfrm rot="10800000" flipH="1" flipV="1">
            <a:off x="310705" y="4149080"/>
            <a:ext cx="4176464" cy="529954"/>
          </a:xfrm>
          <a:prstGeom prst="trapezoid">
            <a:avLst>
              <a:gd name="adj" fmla="val 641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Trapez 9"/>
          <p:cNvSpPr/>
          <p:nvPr/>
        </p:nvSpPr>
        <p:spPr>
          <a:xfrm rot="18144597" flipH="1" flipV="1">
            <a:off x="4271481" y="2880918"/>
            <a:ext cx="3863912" cy="558896"/>
          </a:xfrm>
          <a:prstGeom prst="trapezoid">
            <a:avLst>
              <a:gd name="adj" fmla="val 5411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6" name="Łącznik prostoliniowy 5"/>
          <p:cNvCxnSpPr/>
          <p:nvPr/>
        </p:nvCxnSpPr>
        <p:spPr>
          <a:xfrm>
            <a:off x="755576" y="4005064"/>
            <a:ext cx="3312368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oliniowy 11"/>
          <p:cNvCxnSpPr/>
          <p:nvPr/>
        </p:nvCxnSpPr>
        <p:spPr>
          <a:xfrm>
            <a:off x="1043608" y="3501008"/>
            <a:ext cx="2736304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oliniowy 14"/>
          <p:cNvCxnSpPr/>
          <p:nvPr/>
        </p:nvCxnSpPr>
        <p:spPr>
          <a:xfrm>
            <a:off x="1475656" y="2924944"/>
            <a:ext cx="1872208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Łącznik prostoliniowy 18"/>
          <p:cNvCxnSpPr/>
          <p:nvPr/>
        </p:nvCxnSpPr>
        <p:spPr>
          <a:xfrm>
            <a:off x="1835696" y="2348880"/>
            <a:ext cx="1152128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Łącznik prostoliniowy 25"/>
          <p:cNvCxnSpPr/>
          <p:nvPr/>
        </p:nvCxnSpPr>
        <p:spPr>
          <a:xfrm>
            <a:off x="5364088" y="4005064"/>
            <a:ext cx="3312368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Łącznik prostoliniowy 26"/>
          <p:cNvCxnSpPr/>
          <p:nvPr/>
        </p:nvCxnSpPr>
        <p:spPr>
          <a:xfrm>
            <a:off x="5652120" y="3501008"/>
            <a:ext cx="2736304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4" name="pole tekstowe 2053"/>
          <p:cNvSpPr txBox="1"/>
          <p:nvPr/>
        </p:nvSpPr>
        <p:spPr>
          <a:xfrm>
            <a:off x="1475656" y="4207527"/>
            <a:ext cx="18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Funkcjonalny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40" name="pole tekstowe 39"/>
          <p:cNvSpPr txBox="1"/>
          <p:nvPr/>
        </p:nvSpPr>
        <p:spPr>
          <a:xfrm>
            <a:off x="1475656" y="3573016"/>
            <a:ext cx="18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Niezawodny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42" name="pole tekstowe 41"/>
          <p:cNvSpPr txBox="1"/>
          <p:nvPr/>
        </p:nvSpPr>
        <p:spPr>
          <a:xfrm>
            <a:off x="1511660" y="3007525"/>
            <a:ext cx="18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Użyteczny 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43" name="pole tekstowe 42"/>
          <p:cNvSpPr txBox="1"/>
          <p:nvPr/>
        </p:nvSpPr>
        <p:spPr>
          <a:xfrm>
            <a:off x="1511660" y="2348880"/>
            <a:ext cx="18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Wygodny w zakupie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44" name="pole tekstowe 43"/>
          <p:cNvSpPr txBox="1"/>
          <p:nvPr/>
        </p:nvSpPr>
        <p:spPr>
          <a:xfrm>
            <a:off x="1475656" y="1709204"/>
            <a:ext cx="18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Zach</a:t>
            </a:r>
            <a:br>
              <a:rPr lang="pl-PL" b="1" dirty="0" smtClean="0">
                <a:solidFill>
                  <a:schemeClr val="bg1"/>
                </a:solidFill>
              </a:rPr>
            </a:br>
            <a:r>
              <a:rPr lang="pl-PL" b="1" dirty="0" err="1" smtClean="0">
                <a:solidFill>
                  <a:schemeClr val="bg1"/>
                </a:solidFill>
              </a:rPr>
              <a:t>wycający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2055" name="pole tekstowe 2054"/>
          <p:cNvSpPr txBox="1"/>
          <p:nvPr/>
        </p:nvSpPr>
        <p:spPr>
          <a:xfrm>
            <a:off x="323528" y="4797152"/>
            <a:ext cx="4248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Wiele cech słabo opracowanych</a:t>
            </a:r>
            <a:endParaRPr lang="pl-PL" dirty="0"/>
          </a:p>
        </p:txBody>
      </p:sp>
      <p:sp>
        <p:nvSpPr>
          <p:cNvPr id="53" name="pole tekstowe 52"/>
          <p:cNvSpPr txBox="1"/>
          <p:nvPr/>
        </p:nvSpPr>
        <p:spPr>
          <a:xfrm>
            <a:off x="5148064" y="4797152"/>
            <a:ext cx="4248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Kluczowe cechy opracowane dobrze</a:t>
            </a:r>
            <a:endParaRPr lang="pl-PL" dirty="0"/>
          </a:p>
        </p:txBody>
      </p:sp>
      <p:sp>
        <p:nvSpPr>
          <p:cNvPr id="2057" name="Strzałka w dół 2056"/>
          <p:cNvSpPr/>
          <p:nvPr/>
        </p:nvSpPr>
        <p:spPr>
          <a:xfrm>
            <a:off x="179512" y="3160366"/>
            <a:ext cx="288032" cy="127674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58" name="pole tekstowe 2057"/>
          <p:cNvSpPr txBox="1"/>
          <p:nvPr/>
        </p:nvSpPr>
        <p:spPr>
          <a:xfrm>
            <a:off x="-72516" y="2325453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To nie jest dobry MVP</a:t>
            </a:r>
            <a:endParaRPr lang="pl-PL" dirty="0"/>
          </a:p>
        </p:txBody>
      </p:sp>
      <p:sp>
        <p:nvSpPr>
          <p:cNvPr id="57" name="pole tekstowe 56"/>
          <p:cNvSpPr txBox="1"/>
          <p:nvPr/>
        </p:nvSpPr>
        <p:spPr>
          <a:xfrm>
            <a:off x="4283968" y="1628800"/>
            <a:ext cx="1584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To jest prawdziwy</a:t>
            </a:r>
            <a:br>
              <a:rPr lang="pl-PL" dirty="0" smtClean="0"/>
            </a:br>
            <a:r>
              <a:rPr lang="pl-PL" dirty="0" smtClean="0"/>
              <a:t>MVP!</a:t>
            </a:r>
            <a:endParaRPr lang="pl-PL" dirty="0"/>
          </a:p>
        </p:txBody>
      </p:sp>
      <p:sp>
        <p:nvSpPr>
          <p:cNvPr id="58" name="Strzałka w dół 57"/>
          <p:cNvSpPr/>
          <p:nvPr/>
        </p:nvSpPr>
        <p:spPr>
          <a:xfrm rot="19769424">
            <a:off x="5319073" y="2508874"/>
            <a:ext cx="288032" cy="90004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4" name="Łącznik prostoliniowy 33"/>
          <p:cNvCxnSpPr/>
          <p:nvPr/>
        </p:nvCxnSpPr>
        <p:spPr>
          <a:xfrm>
            <a:off x="5652120" y="3492612"/>
            <a:ext cx="2736304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Łącznik prostoliniowy 34"/>
          <p:cNvCxnSpPr/>
          <p:nvPr/>
        </p:nvCxnSpPr>
        <p:spPr>
          <a:xfrm>
            <a:off x="6084168" y="2916548"/>
            <a:ext cx="1872208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Łącznik prostoliniowy 35"/>
          <p:cNvCxnSpPr/>
          <p:nvPr/>
        </p:nvCxnSpPr>
        <p:spPr>
          <a:xfrm>
            <a:off x="6444208" y="2340484"/>
            <a:ext cx="1152128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pole tekstowe 36"/>
          <p:cNvSpPr txBox="1"/>
          <p:nvPr/>
        </p:nvSpPr>
        <p:spPr>
          <a:xfrm>
            <a:off x="6084168" y="4199131"/>
            <a:ext cx="18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Funkcjonalny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38" name="pole tekstowe 37"/>
          <p:cNvSpPr txBox="1"/>
          <p:nvPr/>
        </p:nvSpPr>
        <p:spPr>
          <a:xfrm>
            <a:off x="6084168" y="3564620"/>
            <a:ext cx="18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Niezawodny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39" name="pole tekstowe 38"/>
          <p:cNvSpPr txBox="1"/>
          <p:nvPr/>
        </p:nvSpPr>
        <p:spPr>
          <a:xfrm>
            <a:off x="6120172" y="2999129"/>
            <a:ext cx="18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Użyteczny 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41" name="pole tekstowe 40"/>
          <p:cNvSpPr txBox="1"/>
          <p:nvPr/>
        </p:nvSpPr>
        <p:spPr>
          <a:xfrm>
            <a:off x="6120172" y="2340484"/>
            <a:ext cx="18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Wygodny w zakupie</a:t>
            </a:r>
            <a:endParaRPr lang="pl-PL" b="1" dirty="0">
              <a:solidFill>
                <a:schemeClr val="bg1"/>
              </a:solidFill>
            </a:endParaRPr>
          </a:p>
        </p:txBody>
      </p:sp>
      <p:sp>
        <p:nvSpPr>
          <p:cNvPr id="52" name="pole tekstowe 51"/>
          <p:cNvSpPr txBox="1"/>
          <p:nvPr/>
        </p:nvSpPr>
        <p:spPr>
          <a:xfrm>
            <a:off x="6084168" y="1700808"/>
            <a:ext cx="18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smtClean="0">
                <a:solidFill>
                  <a:schemeClr val="bg1"/>
                </a:solidFill>
              </a:rPr>
              <a:t>Zach</a:t>
            </a:r>
            <a:br>
              <a:rPr lang="pl-PL" b="1" dirty="0" smtClean="0">
                <a:solidFill>
                  <a:schemeClr val="bg1"/>
                </a:solidFill>
              </a:rPr>
            </a:br>
            <a:r>
              <a:rPr lang="pl-PL" b="1" dirty="0" err="1" smtClean="0">
                <a:solidFill>
                  <a:schemeClr val="bg1"/>
                </a:solidFill>
              </a:rPr>
              <a:t>wycający</a:t>
            </a:r>
            <a:endParaRPr lang="pl-PL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02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3600" dirty="0" smtClean="0"/>
              <a:t>Zadanie nr </a:t>
            </a:r>
            <a:r>
              <a:rPr lang="pl-PL" sz="3600" dirty="0" smtClean="0"/>
              <a:t>6 </a:t>
            </a:r>
            <a:r>
              <a:rPr lang="pl-PL" sz="3600" dirty="0" smtClean="0"/>
              <a:t>- </a:t>
            </a:r>
            <a:r>
              <a:rPr lang="pl-PL" sz="3600" dirty="0" smtClean="0"/>
              <a:t> </a:t>
            </a:r>
            <a:r>
              <a:rPr lang="pl-PL" sz="3600" dirty="0"/>
              <a:t>MVP</a:t>
            </a:r>
          </a:p>
        </p:txBody>
      </p:sp>
      <p:pic>
        <p:nvPicPr>
          <p:cNvPr id="1028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8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ymbol zastępczy zawartości 2"/>
          <p:cNvSpPr>
            <a:spLocks noGrp="1"/>
          </p:cNvSpPr>
          <p:nvPr>
            <p:ph idx="1"/>
          </p:nvPr>
        </p:nvSpPr>
        <p:spPr>
          <a:xfrm>
            <a:off x="323528" y="1124744"/>
            <a:ext cx="8424862" cy="48609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l-PL" sz="2800" dirty="0"/>
              <a:t>Proszę się zastanowić nad: </a:t>
            </a:r>
          </a:p>
          <a:p>
            <a:pPr lvl="0"/>
            <a:r>
              <a:rPr lang="pl-PL" sz="2800" dirty="0" smtClean="0"/>
              <a:t>cechami produktu, które są niezbędne – </a:t>
            </a:r>
            <a:r>
              <a:rPr lang="pl-PL" sz="2800" dirty="0" err="1" smtClean="0"/>
              <a:t>Must-have</a:t>
            </a:r>
            <a:r>
              <a:rPr lang="pl-PL" sz="2800" dirty="0" smtClean="0"/>
              <a:t>,  </a:t>
            </a:r>
            <a:endParaRPr lang="pl-PL" sz="2800" dirty="0"/>
          </a:p>
          <a:p>
            <a:pPr lvl="0"/>
            <a:r>
              <a:rPr lang="pl-PL" sz="2800" dirty="0" smtClean="0"/>
              <a:t>cechami produktu, które są pożądane – Nice-to-</a:t>
            </a:r>
            <a:r>
              <a:rPr lang="pl-PL" sz="2800" dirty="0" err="1" smtClean="0"/>
              <a:t>have</a:t>
            </a:r>
            <a:r>
              <a:rPr lang="pl-PL" sz="2800" dirty="0" smtClean="0"/>
              <a:t>,</a:t>
            </a:r>
            <a:endParaRPr lang="pl-PL" sz="2800" dirty="0"/>
          </a:p>
          <a:p>
            <a:pPr lvl="0"/>
            <a:r>
              <a:rPr lang="pl-PL" sz="2800" dirty="0" smtClean="0"/>
              <a:t>cechami </a:t>
            </a:r>
            <a:r>
              <a:rPr lang="pl-PL" sz="2800" dirty="0"/>
              <a:t>produktu, które są </a:t>
            </a:r>
            <a:r>
              <a:rPr lang="pl-PL" sz="2800" dirty="0" smtClean="0"/>
              <a:t>łatwe do wdrożenia – </a:t>
            </a:r>
            <a:r>
              <a:rPr lang="pl-PL" sz="2800" dirty="0" err="1" smtClean="0"/>
              <a:t>Easy</a:t>
            </a:r>
            <a:r>
              <a:rPr lang="pl-PL" sz="2800" dirty="0" smtClean="0"/>
              <a:t> </a:t>
            </a:r>
          </a:p>
          <a:p>
            <a:pPr lvl="0"/>
            <a:r>
              <a:rPr lang="pl-PL" sz="2800" dirty="0"/>
              <a:t>cechami produktu, które </a:t>
            </a:r>
            <a:r>
              <a:rPr lang="pl-PL" sz="2800" dirty="0" smtClean="0"/>
              <a:t>są trudne do wdrożenia – Hard </a:t>
            </a:r>
            <a:endParaRPr lang="pl-PL" sz="2800" dirty="0"/>
          </a:p>
          <a:p>
            <a:pPr marL="0" indent="0">
              <a:buNone/>
            </a:pPr>
            <a:r>
              <a:rPr lang="pl-PL" sz="2800" dirty="0" smtClean="0"/>
              <a:t>Następnie proszę wpisać cechy produktu do macierzy na następnym slajdzie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4046634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ole tekstowe 12"/>
          <p:cNvSpPr txBox="1"/>
          <p:nvPr/>
        </p:nvSpPr>
        <p:spPr>
          <a:xfrm>
            <a:off x="0" y="3358797"/>
            <a:ext cx="12961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smtClean="0"/>
              <a:t>EASY</a:t>
            </a:r>
          </a:p>
          <a:p>
            <a:r>
              <a:rPr lang="pl-PL" sz="1200" dirty="0" smtClean="0"/>
              <a:t>(łatwe do</a:t>
            </a:r>
            <a:br>
              <a:rPr lang="pl-PL" sz="1200" dirty="0" smtClean="0"/>
            </a:br>
            <a:r>
              <a:rPr lang="pl-PL" sz="1200" dirty="0" smtClean="0"/>
              <a:t>wdrożenia)</a:t>
            </a:r>
            <a:endParaRPr lang="pl-PL" sz="1200" dirty="0"/>
          </a:p>
        </p:txBody>
      </p:sp>
      <p:sp>
        <p:nvSpPr>
          <p:cNvPr id="20" name="pole tekstowe 19"/>
          <p:cNvSpPr txBox="1"/>
          <p:nvPr/>
        </p:nvSpPr>
        <p:spPr>
          <a:xfrm>
            <a:off x="3091888" y="764704"/>
            <a:ext cx="3208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NICE – TO – HAVE </a:t>
            </a:r>
            <a:r>
              <a:rPr lang="pl-PL" sz="1200" dirty="0" smtClean="0"/>
              <a:t>(pożądane) </a:t>
            </a:r>
            <a:endParaRPr lang="pl-PL" sz="1200" dirty="0"/>
          </a:p>
        </p:txBody>
      </p:sp>
      <p:sp>
        <p:nvSpPr>
          <p:cNvPr id="21" name="pole tekstowe 20"/>
          <p:cNvSpPr txBox="1"/>
          <p:nvPr/>
        </p:nvSpPr>
        <p:spPr>
          <a:xfrm>
            <a:off x="7956376" y="3365337"/>
            <a:ext cx="136815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HARD</a:t>
            </a:r>
          </a:p>
          <a:p>
            <a:pPr algn="ctr"/>
            <a:r>
              <a:rPr lang="pl-PL" sz="1200" dirty="0" smtClean="0"/>
              <a:t>(trudne do</a:t>
            </a:r>
            <a:r>
              <a:rPr lang="pl-PL" sz="1200" dirty="0"/>
              <a:t/>
            </a:r>
            <a:br>
              <a:rPr lang="pl-PL" sz="1200" dirty="0"/>
            </a:br>
            <a:r>
              <a:rPr lang="pl-PL" sz="1200" dirty="0"/>
              <a:t>wdrożenia</a:t>
            </a:r>
            <a:r>
              <a:rPr lang="pl-PL" sz="1200" dirty="0" smtClean="0"/>
              <a:t>)</a:t>
            </a:r>
            <a:endParaRPr lang="pl-PL" sz="1200" dirty="0"/>
          </a:p>
        </p:txBody>
      </p:sp>
      <p:pic>
        <p:nvPicPr>
          <p:cNvPr id="32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326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pole tekstowe 32"/>
          <p:cNvSpPr txBox="1"/>
          <p:nvPr/>
        </p:nvSpPr>
        <p:spPr>
          <a:xfrm>
            <a:off x="1907704" y="17782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SZABLON WARSZTATOWY NR </a:t>
            </a:r>
            <a:r>
              <a:rPr lang="pl-PL" dirty="0" smtClean="0"/>
              <a:t>6 </a:t>
            </a:r>
            <a:r>
              <a:rPr lang="pl-PL" dirty="0" smtClean="0"/>
              <a:t/>
            </a:r>
            <a:br>
              <a:rPr lang="pl-PL" dirty="0" smtClean="0"/>
            </a:br>
            <a:r>
              <a:rPr lang="pl-PL" dirty="0" smtClean="0"/>
              <a:t>– CECHY </a:t>
            </a:r>
            <a:r>
              <a:rPr lang="pl-PL" dirty="0" smtClean="0"/>
              <a:t>MVP</a:t>
            </a:r>
            <a:endParaRPr lang="pl-PL" dirty="0"/>
          </a:p>
        </p:txBody>
      </p:sp>
      <p:cxnSp>
        <p:nvCxnSpPr>
          <p:cNvPr id="28" name="Łącznik prostoliniowy 27"/>
          <p:cNvCxnSpPr/>
          <p:nvPr/>
        </p:nvCxnSpPr>
        <p:spPr>
          <a:xfrm>
            <a:off x="4208013" y="1134036"/>
            <a:ext cx="0" cy="5165992"/>
          </a:xfrm>
          <a:prstGeom prst="line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Łącznik prostoliniowy 30"/>
          <p:cNvCxnSpPr/>
          <p:nvPr/>
        </p:nvCxnSpPr>
        <p:spPr>
          <a:xfrm>
            <a:off x="611560" y="3563724"/>
            <a:ext cx="7704856" cy="0"/>
          </a:xfrm>
          <a:prstGeom prst="line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pole tekstowe 38"/>
          <p:cNvSpPr txBox="1"/>
          <p:nvPr/>
        </p:nvSpPr>
        <p:spPr>
          <a:xfrm>
            <a:off x="3106682" y="644404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MUST– HAVE </a:t>
            </a:r>
            <a:r>
              <a:rPr lang="pl-PL" sz="1200" dirty="0" smtClean="0"/>
              <a:t>(konieczne) </a:t>
            </a:r>
            <a:endParaRPr lang="pl-PL" sz="1200" dirty="0"/>
          </a:p>
        </p:txBody>
      </p:sp>
    </p:spTree>
    <p:extLst>
      <p:ext uri="{BB962C8B-B14F-4D97-AF65-F5344CB8AC3E}">
        <p14:creationId xmlns:p14="http://schemas.microsoft.com/office/powerpoint/2010/main" val="771349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ole tekstowe 12"/>
          <p:cNvSpPr txBox="1"/>
          <p:nvPr/>
        </p:nvSpPr>
        <p:spPr>
          <a:xfrm>
            <a:off x="0" y="3358797"/>
            <a:ext cx="12961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smtClean="0"/>
              <a:t>EASY</a:t>
            </a:r>
          </a:p>
          <a:p>
            <a:r>
              <a:rPr lang="pl-PL" sz="1200" dirty="0" smtClean="0"/>
              <a:t>(łatwe do</a:t>
            </a:r>
            <a:br>
              <a:rPr lang="pl-PL" sz="1200" dirty="0" smtClean="0"/>
            </a:br>
            <a:r>
              <a:rPr lang="pl-PL" sz="1200" dirty="0" smtClean="0"/>
              <a:t>wdrożenia)</a:t>
            </a:r>
            <a:endParaRPr lang="pl-PL" sz="1200" dirty="0"/>
          </a:p>
        </p:txBody>
      </p:sp>
      <p:sp>
        <p:nvSpPr>
          <p:cNvPr id="20" name="pole tekstowe 19"/>
          <p:cNvSpPr txBox="1"/>
          <p:nvPr/>
        </p:nvSpPr>
        <p:spPr>
          <a:xfrm>
            <a:off x="3091888" y="764704"/>
            <a:ext cx="3208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NICE – TO – HAVE </a:t>
            </a:r>
            <a:r>
              <a:rPr lang="pl-PL" sz="1200" dirty="0" smtClean="0"/>
              <a:t>(pożądane) </a:t>
            </a:r>
            <a:endParaRPr lang="pl-PL" sz="1200" dirty="0"/>
          </a:p>
        </p:txBody>
      </p:sp>
      <p:sp>
        <p:nvSpPr>
          <p:cNvPr id="21" name="pole tekstowe 20"/>
          <p:cNvSpPr txBox="1"/>
          <p:nvPr/>
        </p:nvSpPr>
        <p:spPr>
          <a:xfrm>
            <a:off x="7956376" y="3365337"/>
            <a:ext cx="136815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HARD</a:t>
            </a:r>
          </a:p>
          <a:p>
            <a:pPr algn="ctr"/>
            <a:r>
              <a:rPr lang="pl-PL" sz="1200" dirty="0" smtClean="0"/>
              <a:t>(trudne do</a:t>
            </a:r>
            <a:r>
              <a:rPr lang="pl-PL" sz="1200" dirty="0"/>
              <a:t/>
            </a:r>
            <a:br>
              <a:rPr lang="pl-PL" sz="1200" dirty="0"/>
            </a:br>
            <a:r>
              <a:rPr lang="pl-PL" sz="1200" dirty="0"/>
              <a:t>wdrożenia</a:t>
            </a:r>
            <a:r>
              <a:rPr lang="pl-PL" sz="1200" dirty="0" smtClean="0"/>
              <a:t>)</a:t>
            </a:r>
            <a:endParaRPr lang="pl-PL" sz="1200" dirty="0"/>
          </a:p>
        </p:txBody>
      </p:sp>
      <p:pic>
        <p:nvPicPr>
          <p:cNvPr id="32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326"/>
            <a:ext cx="1824891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pole tekstowe 32"/>
          <p:cNvSpPr txBox="1"/>
          <p:nvPr/>
        </p:nvSpPr>
        <p:spPr>
          <a:xfrm>
            <a:off x="1907704" y="17782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SZABLON WARSZTATOWY NR </a:t>
            </a:r>
            <a:r>
              <a:rPr lang="pl-PL" dirty="0" smtClean="0"/>
              <a:t>6 </a:t>
            </a:r>
            <a:r>
              <a:rPr lang="pl-PL" dirty="0" smtClean="0"/>
              <a:t/>
            </a:r>
            <a:br>
              <a:rPr lang="pl-PL" dirty="0" smtClean="0"/>
            </a:br>
            <a:r>
              <a:rPr lang="pl-PL" dirty="0" smtClean="0"/>
              <a:t>– CECHY </a:t>
            </a:r>
            <a:r>
              <a:rPr lang="pl-PL" dirty="0" smtClean="0"/>
              <a:t>MVP</a:t>
            </a:r>
            <a:endParaRPr lang="pl-PL" dirty="0"/>
          </a:p>
        </p:txBody>
      </p:sp>
      <p:cxnSp>
        <p:nvCxnSpPr>
          <p:cNvPr id="28" name="Łącznik prostoliniowy 27"/>
          <p:cNvCxnSpPr/>
          <p:nvPr/>
        </p:nvCxnSpPr>
        <p:spPr>
          <a:xfrm>
            <a:off x="4208013" y="1134036"/>
            <a:ext cx="0" cy="5165992"/>
          </a:xfrm>
          <a:prstGeom prst="line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Łącznik prostoliniowy 30"/>
          <p:cNvCxnSpPr/>
          <p:nvPr/>
        </p:nvCxnSpPr>
        <p:spPr>
          <a:xfrm>
            <a:off x="611560" y="3563724"/>
            <a:ext cx="7704856" cy="0"/>
          </a:xfrm>
          <a:prstGeom prst="line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pole tekstowe 38"/>
          <p:cNvSpPr txBox="1"/>
          <p:nvPr/>
        </p:nvSpPr>
        <p:spPr>
          <a:xfrm>
            <a:off x="3106682" y="644404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smtClean="0"/>
              <a:t>MUST– HAVE </a:t>
            </a:r>
            <a:r>
              <a:rPr lang="pl-PL" sz="1200" dirty="0" smtClean="0"/>
              <a:t>(konieczne) </a:t>
            </a:r>
            <a:endParaRPr lang="pl-PL" sz="1200" dirty="0"/>
          </a:p>
        </p:txBody>
      </p:sp>
      <p:sp>
        <p:nvSpPr>
          <p:cNvPr id="10" name="pole tekstowe 9"/>
          <p:cNvSpPr txBox="1"/>
          <p:nvPr/>
        </p:nvSpPr>
        <p:spPr>
          <a:xfrm>
            <a:off x="867554" y="4509120"/>
            <a:ext cx="32083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600" b="1" dirty="0" smtClean="0"/>
              <a:t>MVP</a:t>
            </a:r>
            <a:endParaRPr lang="pl-PL" sz="1200" b="1" dirty="0"/>
          </a:p>
        </p:txBody>
      </p:sp>
    </p:spTree>
    <p:extLst>
      <p:ext uri="{BB962C8B-B14F-4D97-AF65-F5344CB8AC3E}">
        <p14:creationId xmlns:p14="http://schemas.microsoft.com/office/powerpoint/2010/main" val="26734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ole tekstowe 12"/>
          <p:cNvSpPr txBox="1"/>
          <p:nvPr/>
        </p:nvSpPr>
        <p:spPr>
          <a:xfrm>
            <a:off x="1143000" y="3358797"/>
            <a:ext cx="972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EASY</a:t>
            </a:r>
          </a:p>
          <a:p>
            <a:r>
              <a:rPr lang="pl-PL" sz="1200" dirty="0"/>
              <a:t>(łatwe do</a:t>
            </a:r>
            <a:br>
              <a:rPr lang="pl-PL" sz="1200" dirty="0"/>
            </a:br>
            <a:r>
              <a:rPr lang="pl-PL" sz="1200" dirty="0"/>
              <a:t>wdrożenia)</a:t>
            </a:r>
          </a:p>
        </p:txBody>
      </p:sp>
      <p:sp>
        <p:nvSpPr>
          <p:cNvPr id="20" name="pole tekstowe 19"/>
          <p:cNvSpPr txBox="1"/>
          <p:nvPr/>
        </p:nvSpPr>
        <p:spPr>
          <a:xfrm>
            <a:off x="3461917" y="764704"/>
            <a:ext cx="24062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NICE – TO – HAVE </a:t>
            </a:r>
            <a:r>
              <a:rPr lang="pl-PL" sz="1200" dirty="0"/>
              <a:t>(pożądane) </a:t>
            </a:r>
          </a:p>
        </p:txBody>
      </p:sp>
      <p:sp>
        <p:nvSpPr>
          <p:cNvPr id="21" name="pole tekstowe 20"/>
          <p:cNvSpPr txBox="1"/>
          <p:nvPr/>
        </p:nvSpPr>
        <p:spPr>
          <a:xfrm>
            <a:off x="7110282" y="3365337"/>
            <a:ext cx="10261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HARD</a:t>
            </a:r>
          </a:p>
          <a:p>
            <a:pPr algn="ctr"/>
            <a:r>
              <a:rPr lang="pl-PL" sz="1200" dirty="0"/>
              <a:t>(trudne do</a:t>
            </a:r>
            <a:br>
              <a:rPr lang="pl-PL" sz="1200" dirty="0"/>
            </a:br>
            <a:r>
              <a:rPr lang="pl-PL" sz="1200" dirty="0"/>
              <a:t>wdrożenia)</a:t>
            </a:r>
          </a:p>
        </p:txBody>
      </p:sp>
      <p:pic>
        <p:nvPicPr>
          <p:cNvPr id="32" name="Picture 4" descr="Znalezione obrazy dla zapytania politechnika wrocławska logotyp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794405" cy="53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pole tekstowe 32"/>
          <p:cNvSpPr txBox="1"/>
          <p:nvPr/>
        </p:nvSpPr>
        <p:spPr>
          <a:xfrm>
            <a:off x="1979712" y="177825"/>
            <a:ext cx="45991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b="1" dirty="0" smtClean="0"/>
              <a:t>Przykład cech </a:t>
            </a:r>
            <a:r>
              <a:rPr lang="pl-PL" sz="2400" b="1" dirty="0" smtClean="0"/>
              <a:t>MVP</a:t>
            </a:r>
            <a:endParaRPr lang="pl-PL" sz="2400" b="1" dirty="0"/>
          </a:p>
        </p:txBody>
      </p:sp>
      <p:cxnSp>
        <p:nvCxnSpPr>
          <p:cNvPr id="28" name="Łącznik prostoliniowy 27"/>
          <p:cNvCxnSpPr/>
          <p:nvPr/>
        </p:nvCxnSpPr>
        <p:spPr>
          <a:xfrm>
            <a:off x="4299010" y="1134036"/>
            <a:ext cx="0" cy="5165992"/>
          </a:xfrm>
          <a:prstGeom prst="line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Łącznik prostoliniowy 30"/>
          <p:cNvCxnSpPr/>
          <p:nvPr/>
        </p:nvCxnSpPr>
        <p:spPr>
          <a:xfrm>
            <a:off x="1601670" y="3563724"/>
            <a:ext cx="5778642" cy="0"/>
          </a:xfrm>
          <a:prstGeom prst="line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pole tekstowe 38"/>
          <p:cNvSpPr txBox="1"/>
          <p:nvPr/>
        </p:nvSpPr>
        <p:spPr>
          <a:xfrm>
            <a:off x="3473012" y="6309320"/>
            <a:ext cx="16741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MUST– HAVE </a:t>
            </a:r>
            <a:r>
              <a:rPr lang="pl-PL" sz="1200" dirty="0"/>
              <a:t>(konieczne) 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="" xmlns:a16="http://schemas.microsoft.com/office/drawing/2014/main" id="{33803051-E79F-4664-9578-84194F7AD8F8}"/>
              </a:ext>
            </a:extLst>
          </p:cNvPr>
          <p:cNvSpPr txBox="1"/>
          <p:nvPr/>
        </p:nvSpPr>
        <p:spPr>
          <a:xfrm>
            <a:off x="1794405" y="3717033"/>
            <a:ext cx="221054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Umowy ze sklepami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Pudełka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Finansowanie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Zaufanie społeczeństwa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Reklama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System obsługujący zwroty i wypożyczenia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endParaRPr lang="pl-PL" dirty="0"/>
          </a:p>
        </p:txBody>
      </p:sp>
      <p:sp>
        <p:nvSpPr>
          <p:cNvPr id="12" name="pole tekstowe 11">
            <a:extLst>
              <a:ext uri="{FF2B5EF4-FFF2-40B4-BE49-F238E27FC236}">
                <a16:creationId xmlns="" xmlns:a16="http://schemas.microsoft.com/office/drawing/2014/main" id="{75B469C3-FFDC-485C-888F-1124C125E526}"/>
              </a:ext>
            </a:extLst>
          </p:cNvPr>
          <p:cNvSpPr txBox="1"/>
          <p:nvPr/>
        </p:nvSpPr>
        <p:spPr>
          <a:xfrm>
            <a:off x="4421800" y="3728130"/>
            <a:ext cx="2745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Automaty z produktem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System dezynfekcji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="" xmlns:a16="http://schemas.microsoft.com/office/drawing/2014/main" id="{93519640-0175-461A-B769-FD39823082AA}"/>
              </a:ext>
            </a:extLst>
          </p:cNvPr>
          <p:cNvSpPr txBox="1"/>
          <p:nvPr/>
        </p:nvSpPr>
        <p:spPr>
          <a:xfrm>
            <a:off x="1794405" y="1416382"/>
            <a:ext cx="2669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Punkt sprzedaży reklamówek wielokrotnego użytku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="" xmlns:a16="http://schemas.microsoft.com/office/drawing/2014/main" id="{CAE06225-0BE8-4F5D-8C73-92EA2556A1DB}"/>
              </a:ext>
            </a:extLst>
          </p:cNvPr>
          <p:cNvSpPr/>
          <p:nvPr/>
        </p:nvSpPr>
        <p:spPr>
          <a:xfrm>
            <a:off x="4421801" y="1416382"/>
            <a:ext cx="268848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Możliwość wyboru rodzaju pudełek, np. wielkości</a:t>
            </a:r>
          </a:p>
        </p:txBody>
      </p:sp>
      <p:sp>
        <p:nvSpPr>
          <p:cNvPr id="15" name="Schemat blokowy: terminator 14">
            <a:extLst>
              <a:ext uri="{FF2B5EF4-FFF2-40B4-BE49-F238E27FC236}">
                <a16:creationId xmlns="" xmlns:a16="http://schemas.microsoft.com/office/drawing/2014/main" id="{BBD946C8-353A-4F3C-AE8B-89E9C913344B}"/>
              </a:ext>
            </a:extLst>
          </p:cNvPr>
          <p:cNvSpPr/>
          <p:nvPr/>
        </p:nvSpPr>
        <p:spPr>
          <a:xfrm>
            <a:off x="6516216" y="336503"/>
            <a:ext cx="2518307" cy="1204773"/>
          </a:xfrm>
          <a:prstGeom prst="flowChartTerminator">
            <a:avLst/>
          </a:prstGeom>
          <a:solidFill>
            <a:schemeClr val="accent2"/>
          </a:solidFill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Aplikacja pokazująca miejsca akceptujące własne pojemniki</a:t>
            </a:r>
          </a:p>
        </p:txBody>
      </p:sp>
    </p:spTree>
    <p:extLst>
      <p:ext uri="{BB962C8B-B14F-4D97-AF65-F5344CB8AC3E}">
        <p14:creationId xmlns:p14="http://schemas.microsoft.com/office/powerpoint/2010/main" val="3134782859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1120</TotalTime>
  <Words>241</Words>
  <Application>Microsoft Office PowerPoint</Application>
  <PresentationFormat>Pokaz na ekranie (4:3)</PresentationFormat>
  <Paragraphs>64</Paragraphs>
  <Slides>8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8</vt:i4>
      </vt:variant>
    </vt:vector>
  </HeadingPairs>
  <TitlesOfParts>
    <vt:vector size="11" baseType="lpstr">
      <vt:lpstr>Arial</vt:lpstr>
      <vt:lpstr>Calibri</vt:lpstr>
      <vt:lpstr>Motyw pakietu Office</vt:lpstr>
      <vt:lpstr>Zadanie nr 6 – Opracowanie MVP</vt:lpstr>
      <vt:lpstr>Minimum Viable Product (MVP)</vt:lpstr>
      <vt:lpstr>MVP</vt:lpstr>
      <vt:lpstr>MVP</vt:lpstr>
      <vt:lpstr>Zadanie nr 6 -  MVP</vt:lpstr>
      <vt:lpstr>Prezentacja programu PowerPoint</vt:lpstr>
      <vt:lpstr>Prezentacja programu PowerPoint</vt:lpstr>
      <vt:lpstr>Prezentacja programu PowerPoint</vt:lpstr>
    </vt:vector>
  </TitlesOfParts>
  <Company>Hewlett-Packard Company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Piotr Kubiński</dc:creator>
  <cp:lastModifiedBy>P.Kubinski</cp:lastModifiedBy>
  <cp:revision>58</cp:revision>
  <cp:lastPrinted>2018-05-08T14:24:55Z</cp:lastPrinted>
  <dcterms:created xsi:type="dcterms:W3CDTF">2018-04-11T14:57:30Z</dcterms:created>
  <dcterms:modified xsi:type="dcterms:W3CDTF">2026-04-22T12:37:34Z</dcterms:modified>
</cp:coreProperties>
</file>