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DC8DE3-03C5-4A3C-90A0-2BC7091E09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42BC55E-F548-4166-9275-0CF408CCDF1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1722518-43EA-4C54-982D-23C9BE569CB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267E35E-D051-4AFA-BDCC-99A6984B45A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453DD53-4D21-45B1-9325-3E96C7ECD6F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406A2A7-9BC0-435F-BBF1-819AE9333E5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6CDCD27-37F0-4221-ABFE-7E9CA5C69A4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D1C1A67-9BBD-42AE-8ECB-D4A97827357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D7DF3D1-5772-4684-A1C9-88E1079F507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27089340-0BC0-4D40-A848-ACA7ABDB072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734312B-A772-420B-B813-1B06703595C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CAD776-98F6-405D-A742-6691D0FD0211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5F2971-B000-433D-BA7F-DD7D932048B5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4B5A9D-0047-4043-BFF0-5E18A64D27CA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6100E58-3437-452A-BAC6-F60DB6B9DFD7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FE364E-9E0A-4EBB-874A-243C3DC5FD93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401544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674240" y="1604520"/>
            <a:ext cx="401544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ED29ED-E277-4C65-B605-80766581EE1D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BE1BF7-050C-41D8-9512-E00F475EE3C7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E3E5A2-90BB-4640-9E0F-33AE8E7B3584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97C773-CFD9-415C-9820-51A01410B35B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5D04A8-D003-4097-811B-3A7583FDC73E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F2EFBE-5EEC-4A71-B306-AEAB2AADDF48}" type="slidenum">
              <a:rPr b="0" lang="pl-PL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http://www.google.pl/url?sa=i&amp;rct=j&amp;q=&amp;esrc=s&amp;source=images&amp;cd=&amp;cad=rja&amp;uact=8&amp;ved=2ahUKEwiYvoH_wLLaAhWGdCwKHd2LCW8QjRx6BAgAEAU&amp;url=http://fundacja.pwr.wroc.pl/pl/nocne_listowanie_vol_2_kazdy_moze_napisac_list/174/&amp;psig=AOvVaw0xDiQlDA1OAPoDpc7XJWad&amp;ust=1523545907157564" TargetMode="Externa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l-PL" sz="3600" spc="-1" strike="noStrike">
                <a:solidFill>
                  <a:schemeClr val="dk1"/>
                </a:solidFill>
                <a:latin typeface="Calibri"/>
              </a:rPr>
              <a:t>Zadanie nr 4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" name="Picture 4" descr="Znalezione obrazy dla zapytania politechnika wrocławska logotyp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0" y="12960"/>
            <a:ext cx="1824120" cy="534960"/>
          </a:xfrm>
          <a:prstGeom prst="rect">
            <a:avLst/>
          </a:prstGeom>
          <a:ln w="0">
            <a:noFill/>
          </a:ln>
        </p:spPr>
      </p:pic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323640" y="2493000"/>
            <a:ext cx="8424000" cy="349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514440" indent="-5144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pl-PL" sz="2800" spc="-1" strike="noStrike">
                <a:solidFill>
                  <a:schemeClr val="dk1"/>
                </a:solidFill>
                <a:latin typeface="Calibri"/>
              </a:rPr>
              <a:t>Analiza i opis docelowego segmentu odbiorców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514440" indent="-5144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AutoNum type="arabicPeriod"/>
            </a:pPr>
            <a:r>
              <a:rPr b="0" lang="pl-PL" sz="2800" spc="-1" strike="noStrike">
                <a:solidFill>
                  <a:schemeClr val="dk1"/>
                </a:solidFill>
                <a:latin typeface="Calibri"/>
              </a:rPr>
              <a:t>W tabeli na następnym slajdzie proszę postarać się scharakteryzować docelowy segment odbiorców – kto i w jaki sposób będzie użytkował produkt/usługę? Ale też jaki jest rynek i konkurencja?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4" descr="Znalezione obrazy dla zapytania politechnika wrocławska logotyp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0" y="11160"/>
            <a:ext cx="1824120" cy="534960"/>
          </a:xfrm>
          <a:prstGeom prst="rect">
            <a:avLst/>
          </a:prstGeom>
          <a:ln w="0">
            <a:noFill/>
          </a:ln>
        </p:spPr>
      </p:pic>
      <p:sp>
        <p:nvSpPr>
          <p:cNvPr id="53" name="pole tekstowe 32"/>
          <p:cNvSpPr/>
          <p:nvPr/>
        </p:nvSpPr>
        <p:spPr>
          <a:xfrm>
            <a:off x="1600200" y="177840"/>
            <a:ext cx="6400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pl-PL" sz="1800" spc="-1" strike="noStrike">
                <a:solidFill>
                  <a:schemeClr val="dk1"/>
                </a:solidFill>
                <a:latin typeface="Calibri"/>
              </a:rPr>
              <a:t>SZABLON WARSZTATOWY NR 5 – segmentacja rynku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4" name="Tabela 1"/>
          <p:cNvGraphicFramePr/>
          <p:nvPr/>
        </p:nvGraphicFramePr>
        <p:xfrm>
          <a:off x="107640" y="620640"/>
          <a:ext cx="8856360" cy="7092720"/>
        </p:xfrm>
        <a:graphic>
          <a:graphicData uri="http://schemas.openxmlformats.org/drawingml/2006/table">
            <a:tbl>
              <a:tblPr/>
              <a:tblGrid>
                <a:gridCol w="3456360"/>
                <a:gridCol w="5400360"/>
              </a:tblGrid>
              <a:tr h="657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pl-PL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1. Ostateczny użytkownik</a:t>
                      </a:r>
                      <a:br>
                        <a:rPr sz="1400"/>
                      </a:br>
                      <a:r>
                        <a:rPr b="0" lang="pl-PL" sz="1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(Kto konkretnie będzie korzystał z produktu/usług?)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Studenci (, nauczyciele (25+) oraz uczniowie (12-19 rok życia),  chcący prowadzić korepetycje lub poszukujący korepetytora;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2 grupy użytkowników: korepetytorzy i klienci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57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2. Zastosowanie</a:t>
                      </a:r>
                      <a:br>
                        <a:rPr sz="1400"/>
                      </a:br>
                      <a:r>
                        <a:rPr b="0" lang="pl-PL" sz="1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(Do czego ostateczny użytkownik będzie używał produktu/ usługi?)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Szybkie znalezienie i poróœnanie korepetytora (przedmio, poziom, lokalizacja, cena, opinie). Rezerwacja terminu w kalendarzu i płatność online. Bezpieczna realizacja lekcji. Zarządzanie lakcjami, odwołaniami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57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3. Korzyści</a:t>
                      </a:r>
                      <a:br>
                        <a:rPr sz="1400"/>
                      </a:br>
                      <a:r>
                        <a:rPr b="0" lang="pl-PL" sz="1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(Jakie korzyści uzyska z usługi? Oszczędność czasu, kosztów? Inne korzyści)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l-PL" sz="1200" spc="-1" strike="noStrike">
                          <a:solidFill>
                            <a:schemeClr val="dk1"/>
                          </a:solidFill>
                          <a:latin typeface="Calibri"/>
                          <a:ea typeface="Noto Sans CJK SC"/>
                        </a:rPr>
                        <a:t>Ułatwienie komunikacji między klientem a korepetytorem, dostęp do obszernej bazy klientów/korepetytorów, oszczędzanie czasu w szukaniu klientów/korepetytorów, większe bezpieczeństwo transakcji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57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4. Wiodący klienci</a:t>
                      </a:r>
                      <a:br>
                        <a:rPr sz="1400"/>
                      </a:br>
                      <a:r>
                        <a:rPr b="0" lang="pl-PL" sz="1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(Kim są najbardziej wpływowi klienci? Kto będzie „lighthouse customers” – klientami latarniami)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Rodzice klas egazminacyjnych (8 i maturzyści) z dużych miast. Studenci mogą spełniać rolę zarówno klientów jak i korepetytorów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57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5. Charakterystyka rynku</a:t>
                      </a:r>
                      <a:br>
                        <a:rPr sz="1400"/>
                      </a:br>
                      <a:r>
                        <a:rPr b="0" lang="pl-PL" sz="1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(B2C czy B2B?)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B2C – poszukiwanie klientów i utrzymywanie relacji ze stałymi (np. promocje, programy lojalnościowe, ochrony korepetytorów), stały / malejący – klienci, którzy ukończyli edukację mogą zacząć pracowac jako korepetytorzy. Możliwość B2B – np. współpraca z szkołami językowimi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57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6. Partnerzy biznesowi</a:t>
                      </a:r>
                      <a:br>
                        <a:rPr sz="1400"/>
                      </a:br>
                      <a:r>
                        <a:rPr b="0" lang="pl-PL" sz="1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(Jakich partnerów potrzebujesz oferując usługi?)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Potrzebni będą przede wszystkim partnerzy do obsługi płatności online, w tym BLIK i szybkie przelewy, oraz dostawcy narzędzi do weryfikacji tożsamości i dokumentów. Przydatni będą także partnerzy technologiczni do komunikacji SMS/e-mail, integracji spotkań online oraz wsparcia prawnego, księgowego i compliance.</a:t>
                      </a:r>
                      <a:endParaRPr b="0" lang="pl-PL" sz="1200" spc="-1" strike="noStrike">
                        <a:solidFill>
                          <a:schemeClr val="dk1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57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7. Wielkość rynku</a:t>
                      </a:r>
                      <a:br>
                        <a:rPr sz="1400"/>
                      </a:br>
                      <a:r>
                        <a:rPr b="0" lang="pl-PL" sz="1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(Mniej więcej ilu jest potencjalnych klientów?)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Szacunkowo: 4-5 mld zł rocznie. Potencjalni klienci ok. 1-1.8 mln rocznie. Potencjalni korepetytorzy ok. 80-150tys osób. MVP: duże miasta + przedmioty egzaminacyjne</a:t>
                      </a:r>
                      <a:endParaRPr b="0" lang="pl-PL" sz="1200" spc="-1" strike="noStrike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57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8. Konkurencja </a:t>
                      </a:r>
                      <a:br>
                        <a:rPr sz="1400"/>
                      </a:br>
                      <a:r>
                        <a:rPr b="0" lang="pl-PL" sz="1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(Kto oferuje podobne produkty/usługi? Czy to konkurenci obecni czy potencjalni?)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E-korepetycje, BUKI, Superpof. Zalety: rozpoznawalność, dużo ogłosceń. Wady: często model tablicy ogłoszeń, brak domkniętej transakcji, słabsze gwarancje. OLX/Facebook – Z: niski koszt wejścia W: niski poziom standaryzacji, słaba porównywalność</a:t>
                      </a:r>
                      <a:endParaRPr b="0" lang="pl-PL" sz="1200" spc="-1" strike="noStrike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57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4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9. Wymagane zasoby komplementarne</a:t>
                      </a:r>
                      <a:br>
                        <a:rPr sz="1400"/>
                      </a:br>
                      <a:r>
                        <a:rPr b="0" lang="pl-PL" sz="10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(Co dodatkowo klient będzie chciał, aby osiągnąć pełną funkcjonalność? Czy potrzebne są dodatkowe zasoby?)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Użytkownik będzie potrzebował dostępu do internetu, urządzenia mobilnego lub komputera oraz metody płatności online. Dla pełnej funkcjonalności ważne są także opinie, system reputacji, szybkie wsparcie klienta, jasne zasady odwołań i zwrotów oraz zaufanie do weryfikacji korepetytorów.</a:t>
                      </a:r>
                      <a:endParaRPr b="0" lang="pl-PL" sz="1200" spc="-1" strike="noStrike">
                        <a:solidFill>
                          <a:schemeClr val="dk1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Picture 4" descr="Znalezione obrazy dla zapytania politechnika wrocławska logotyp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0" y="-17640"/>
            <a:ext cx="1368000" cy="534960"/>
          </a:xfrm>
          <a:prstGeom prst="rect">
            <a:avLst/>
          </a:prstGeom>
          <a:ln w="0">
            <a:noFill/>
          </a:ln>
        </p:spPr>
      </p:pic>
      <p:sp>
        <p:nvSpPr>
          <p:cNvPr id="56" name="pole tekstowe 32"/>
          <p:cNvSpPr/>
          <p:nvPr/>
        </p:nvSpPr>
        <p:spPr>
          <a:xfrm>
            <a:off x="539640" y="-99360"/>
            <a:ext cx="8780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pl-PL" sz="1600" spc="-1" strike="noStrike">
                <a:solidFill>
                  <a:schemeClr val="dk1"/>
                </a:solidFill>
                <a:latin typeface="Calibri"/>
              </a:rPr>
              <a:t>SZABLON WARSZTATOWY NR 4 – segmentacja rynku</a:t>
            </a:r>
            <a:br>
              <a:rPr sz="1600"/>
            </a:br>
            <a:r>
              <a:rPr b="1" lang="pl-PL" sz="1800" spc="-1" strike="noStrike">
                <a:solidFill>
                  <a:schemeClr val="dk1"/>
                </a:solidFill>
                <a:latin typeface="Calibri"/>
              </a:rPr>
              <a:t>PRZYKŁAD: punkt wypożyczeń pudełek wielokrotnego użytku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7" name="Tabela 1"/>
          <p:cNvGraphicFramePr/>
          <p:nvPr/>
        </p:nvGraphicFramePr>
        <p:xfrm>
          <a:off x="0" y="518400"/>
          <a:ext cx="9143280" cy="6666480"/>
        </p:xfrm>
        <a:graphic>
          <a:graphicData uri="http://schemas.openxmlformats.org/drawingml/2006/table">
            <a:tbl>
              <a:tblPr/>
              <a:tblGrid>
                <a:gridCol w="3347640"/>
                <a:gridCol w="5796000"/>
              </a:tblGrid>
              <a:tr h="4683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1. Ostateczny użytkownik</a:t>
                      </a:r>
                      <a:br>
                        <a:rPr sz="1200"/>
                      </a:b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(Kto konkretnie będzie korzystał z produktu/usług?)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Usługa jest skierowana do zapracowanych i zabieganych osób w każdym wieku, głównie skupia się na młodych pracujących osobach do 35 roku życia – osobach otwartych na nowe rozwiązania i żyjących w duchu zero waste.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683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2. Zastosowanie</a:t>
                      </a:r>
                      <a:br>
                        <a:rPr sz="1200"/>
                      </a:b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(Do czego ostateczny użytkownik będzie używał produktu/ usługi?)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Przechowywanie dań na wynos, produktów spożywczych oraz różnego rodzaju zakupów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436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3. Korzyści</a:t>
                      </a:r>
                      <a:br>
                        <a:rPr sz="1200"/>
                      </a:b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(Jakie korzyści uzyska z usługi? Oszczędność czasu, kosztów? Inne korzyści)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Usługa charakteryzuje się 3 wizjami: easy, smart i fast. Istota automatu będzie taka, że nawet seniorzy bez problemu poradzą sobie z wypożyczeniem. Klienci dzięki łatwej i szybkiej obsłudze oszczędzają czas, a do samej idei przekonuje ich innowacyjne rozwiązanie i niska cena.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9658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4. Wiodący klienci</a:t>
                      </a:r>
                      <a:br>
                        <a:rPr sz="1200"/>
                      </a:b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(Kim są najbardziej wpływowi klienci? Kto będzie „lighthouse customers” – klientami latarniami)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Millenialsi –osoby urodzone w latach 80. i 90. będą najlepszą siłą nabywczą, coraz częściej są to osoby stawiające za zdrowy i ekologiczny tryb życia. Nawyki społecznościowe tej grupy tworzą świetne warunki dla dzielenia się opiniami – reklama. A grupa będzie podatna na usługę ponieważ współczesny konsument jest coraz bardziej wymagający, a jego potrzeby to szybkie i łatwe zakupy z ofertą dopasowaną do indywidualnych potrzeb.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9020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5. Charakterystyka rynku</a:t>
                      </a:r>
                      <a:br>
                        <a:rPr sz="1200"/>
                      </a:b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(B2C czy B2B?)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Rynek B2C – Business to Consumer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pozyskiwanie nowych klientów i tworzenie stałych relacji z obecnymi (m.in.. poprzez programy lojalnościowe), duża liczba kupujących, małe rozmiary zamówień, niskie wartości zamówień, klient sam inicjuje zakup, małe ryzyko, klient pasywny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220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6. Partnerzy biznesowi</a:t>
                      </a:r>
                      <a:br>
                        <a:rPr sz="1200"/>
                      </a:b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(Jakich partnerów potrzebujesz oferując usługi?)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Producenci wielorazowych opakowań, przedsiębiorstwa wspierające eco-inicjatywy, inwestorzy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9020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7. Wielkość rynku</a:t>
                      </a:r>
                      <a:br>
                        <a:rPr sz="1200"/>
                      </a:b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(Mniej więcej ilu jest potencjalnych klientów?)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Potencjalni klienci to aktywni zawodowo mieszkańcy Wrocławia. Szacuje się że pracujących mieszkańców w wieku 15-24 lata jest 85 tysięcy, w wieku 25-34 lata 314 tysięcy. Rynek jest bardzo szeroki jednak trzeba wziąć po uwagę również aspekty społeczne mieszkańców. W Polsce ok. 50% ludności określa siebie jako eco-friendly. W takim rozrachunku wielkość potencjalnego rynku wynosi ok. 200 tysięcy ludzi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436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8. Konkurencja </a:t>
                      </a:r>
                      <a:br>
                        <a:rPr sz="1200"/>
                      </a:b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(Kto oferuje podobne produkty/usługi? Czy to konkurenci obecni czy potencjalni?)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Konkurencją będą ekologiczne przedsiębiorstwa, które prężnie rozwijają sektor sprzedaży wielorazowych opakowań.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436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l-PL" sz="12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9. Wymagane zasoby komplementarne</a:t>
                      </a:r>
                      <a:br>
                        <a:rPr sz="1200"/>
                      </a:b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(Co dodatkowo klient będzie chciał, aby osiągnąć pełną funkcjonalność? Czy potrzebne są dodatkowe zasoby?)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pl-PL" sz="1100" spc="-1" strike="noStrike">
                          <a:solidFill>
                            <a:schemeClr val="dk1"/>
                          </a:solidFill>
                          <a:latin typeface="Calibri"/>
                        </a:rPr>
                        <a:t>Klienci coraz bardziej będą stawiać na technologiczne rozwiązania (współpracująca aplikacja) oraz na coraz bardziej spersonalizowane rozwiązania.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Motyw pakietu Office">
  <a:themeElements>
    <a:clrScheme name="Pakiet 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1131</TotalTime>
  <Application>LibreOffice/24.2.7.2$Linux_X86_64 LibreOffice_project/420$Build-2</Application>
  <AppVersion>15.0000</AppVersion>
  <Words>439</Words>
  <Paragraphs>33</Paragraphs>
  <Company>Hewlett-Packard Company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2018-04-11T14:57:30Z</dcterms:created>
  <dc:creator>Piotr Kubiński</dc:creator>
  <dc:description/>
  <dc:language>en-US</dc:language>
  <cp:lastModifiedBy/>
  <cp:lastPrinted>2018-05-08T14:24:55Z</cp:lastPrinted>
  <dcterms:modified xsi:type="dcterms:W3CDTF">2026-04-22T13:46:27Z</dcterms:modified>
  <cp:revision>62</cp:revision>
  <dc:subject/>
  <dc:title>Prezentacja programu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Pokaz na ekranie (4:3)</vt:lpwstr>
  </property>
  <property fmtid="{D5CDD505-2E9C-101B-9397-08002B2CF9AE}" pid="3" name="Slides">
    <vt:i4>3</vt:i4>
  </property>
</Properties>
</file>