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51C694-E10E-4BBF-8F12-9D6D6883DD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422D47-63EE-45D4-AC47-4487F00F2C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7A4225C-0FB3-4200-B8DA-D31C4E0F61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714F6F5-0BA9-4D90-A386-36285F8CF1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8827FB1-0E59-4EF1-924E-05B976337A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61FD0AC-443C-4DE3-A026-200E0B353B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1AAF527-7AFC-4DA6-8B38-12D9A9C073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40798FF-9AE8-4FAA-A7BE-81742FACAD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66EB509-3B3F-4AAD-8750-63ACEFBD96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BDA9092-A21C-45FB-803D-20626E2503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37EDDCA-3128-401F-8DA9-3444B16283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83DFB5-7D08-4054-BD2B-B7CBF91061B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72F44D-8D66-438F-9B9F-19844EF3FA7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6AE90-BF76-404D-B0C4-F4E6DD8E2768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BFF54B-B9C9-4950-AF04-EEFE120C745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4000" spc="-1" strike="noStrike" cap="all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l-PL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Kliknij, aby edytować style wzorca tekstu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9ACE60-37AE-4719-9D71-93B725B43E38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C7D64-A9A5-4AE0-89F3-35082279AF01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691882-4E05-4984-9BC8-77C122BFC2C5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525CF-CF00-4A22-ADCA-C547C0098590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254B9-77B3-478D-B902-F1959E5C8242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pl-PL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87930E-324D-4359-A554-B946189D89A4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pl-PL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pl-PL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pl-PL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1FCAD0-82E9-4D27-8D98-10A05B79FBB7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4</a:t>
            </a:r>
            <a:endParaRPr b="0" lang="pl-PL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7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23640" y="2493000"/>
            <a:ext cx="8424360" cy="34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Analiza i opis docelowego segmentu odbiorców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W tabeli na następnym slajdzie proszę postarać się scharakteryzować docelowy segment odbiorców – kto i w jaki sposób będzie użytkował produkt/usługę? Ale też jaki jest rynek i konkurencja? </a:t>
            </a:r>
            <a:endParaRPr b="0" lang="pl-PL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480" cy="535320"/>
          </a:xfrm>
          <a:prstGeom prst="rect">
            <a:avLst/>
          </a:prstGeom>
          <a:ln w="0">
            <a:noFill/>
          </a:ln>
        </p:spPr>
      </p:pic>
      <p:sp>
        <p:nvSpPr>
          <p:cNvPr id="70" name="pole tekstowe 32"/>
          <p:cNvSpPr/>
          <p:nvPr/>
        </p:nvSpPr>
        <p:spPr>
          <a:xfrm>
            <a:off x="1907640" y="177840"/>
            <a:ext cx="540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5 – segmentacja rynku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Tabela 1"/>
          <p:cNvGraphicFramePr/>
          <p:nvPr/>
        </p:nvGraphicFramePr>
        <p:xfrm>
          <a:off x="107640" y="620640"/>
          <a:ext cx="8856720" cy="6787440"/>
        </p:xfrm>
        <a:graphic>
          <a:graphicData uri="http://schemas.openxmlformats.org/drawingml/2006/table">
            <a:tbl>
              <a:tblPr/>
              <a:tblGrid>
                <a:gridCol w="3456360"/>
                <a:gridCol w="5400360"/>
              </a:tblGrid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 Ostateczny użytkownik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(Kto konkretnie będzie korzystał z produktu/usług?)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Studenci (, nauczyciele (25+) oraz uczniowie (12-19 rok życia),  chcący prowadzić korepetycje lub poszukujący korepetytora;</a:t>
                      </a:r>
                      <a:endParaRPr b="0" lang="pl-PL" sz="14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  <a:p>
                      <a:r>
                        <a:rPr b="0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 grupy użytkowników: korepetytorzy i klienci</a:t>
                      </a:r>
                      <a:endParaRPr b="0" lang="pl-PL" sz="14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2. Zastosowanie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(Do czego ostateczny użytkownik będzie używał produktu/ usługi?)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pl-PL" sz="13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Możliwość wystawiania ofert korepetycji oraz umawiani się na nie</a:t>
                      </a:r>
                      <a:endParaRPr b="0" lang="pl-PL" sz="13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 Korzyści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(Jakie korzyści uzyska z usługi? Oszczędność czasu, kosztów? Inne korzyści)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pl-PL" sz="1300" spc="-1" strike="noStrike">
                          <a:solidFill>
                            <a:schemeClr val="dk1"/>
                          </a:solidFill>
                          <a:latin typeface="Calibri"/>
                          <a:ea typeface="Noto Sans CJK SC"/>
                        </a:rPr>
                        <a:t>Ułatwienie komunikacji między klientem a korepetytorem, dostęp do obszernej bazy klientów/korepetytorów, oszczędzanie czasu w szukaniu klientów/korepetytorów</a:t>
                      </a:r>
                      <a:endParaRPr b="0" lang="pl-PL" sz="13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 Wiodący klienci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(Kim są najbardziej wpływowi klienci? Kto będzie „lighthouse customers” – klientami latarniami)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pl-PL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Studenci</a:t>
                      </a:r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5. Charakterystyka rynku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(B2C czy B2B?)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pl-PL" sz="13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B2C – poszukiwanie klientów i utrzymywanie relacji ze stałymi (np. promocje, programy lojalnościowe, ochrony korepetytorów), stały / malejący – klienci, którzy ukończyli edukację mogą zacząć pracowac jako korepetytorzy</a:t>
                      </a:r>
                      <a:endParaRPr b="0" lang="pl-PL" sz="13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6. Partnerzy biznesowi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(Jakich partnerów potrzebujesz oferując usługi?)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7. Wielkość rynku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(Mniej więcej ilu jest potencjalnych klientów?)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8. Konkurencja 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(Kto oferuje podobne produkty/usługi? Czy to konkurenci obecni czy potencjalni?)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 Wymagane zasoby komplementarne</a:t>
                      </a:r>
                      <a:br>
                        <a:rPr sz="1400"/>
                      </a:br>
                      <a:r>
                        <a:rPr b="0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(Co dodatkowo klient będzie chciał, aby osiągnąć pełną funkcjonalność? Czy potrzebne są dodatkowe zasoby?)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-17640"/>
            <a:ext cx="1368360" cy="535320"/>
          </a:xfrm>
          <a:prstGeom prst="rect">
            <a:avLst/>
          </a:prstGeom>
          <a:ln w="0">
            <a:noFill/>
          </a:ln>
        </p:spPr>
      </p:pic>
      <p:sp>
        <p:nvSpPr>
          <p:cNvPr id="73" name="pole tekstowe 32"/>
          <p:cNvSpPr/>
          <p:nvPr/>
        </p:nvSpPr>
        <p:spPr>
          <a:xfrm>
            <a:off x="539640" y="-99360"/>
            <a:ext cx="87804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SZABLON WARSZTATOWY NR 4 – segmentacja rynku</a:t>
            </a:r>
            <a:br>
              <a:rPr sz="1600"/>
            </a:br>
            <a:r>
              <a:rPr b="1" lang="pl-PL" sz="1800" spc="-1" strike="noStrike">
                <a:solidFill>
                  <a:schemeClr val="dk1"/>
                </a:solidFill>
                <a:latin typeface="Calibri"/>
              </a:rPr>
              <a:t>PRZYKŁAD: punkt wypożyczeń pudełek wielokrotnego użytku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4" name="Tabela 1"/>
          <p:cNvGraphicFramePr/>
          <p:nvPr/>
        </p:nvGraphicFramePr>
        <p:xfrm>
          <a:off x="0" y="518400"/>
          <a:ext cx="9143640" cy="6666480"/>
        </p:xfrm>
        <a:graphic>
          <a:graphicData uri="http://schemas.openxmlformats.org/drawingml/2006/table">
            <a:tbl>
              <a:tblPr/>
              <a:tblGrid>
                <a:gridCol w="3347640"/>
                <a:gridCol w="5796000"/>
              </a:tblGrid>
              <a:tr h="4683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1. Ostateczny użytkownik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(Kto konkretnie będzie korzystał z produktu/usług?)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Usługa jest skierowana do zapracowanych i zabieganych osób w każdym wieku, głównie skupia się na młodych pracujących osobach do 35 roku życia – osobach otwartych na nowe rozwiązania i żyjących w duchu zero waste.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6836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2. Zastosowanie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(Do czego ostateczny użytkownik będzie używał produktu/ usługi?)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Przechowywanie dań na wynos, produktów spożywczych oraz różnego rodzaju zakupów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3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3. Korzyści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(Jakie korzyści uzyska z usługi? Oszczędność czasu, kosztów? Inne korzyści)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Usługa charakteryzuje się 3 wizjami: easy, smart i fast. Istota automatu będzie taka, że nawet seniorzy bez problemu poradzą sobie z wypożyczeniem. Klienci dzięki łatwej i szybkiej obsłudze oszczędzają czas, a do samej idei przekonuje ich innowacyjne rozwiązanie i niska cena.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658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 Wiodący klienci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(Kim są najbardziej wpływowi klienci? Kto będzie „lighthouse customers” – klientami latarniami)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Millenialsi –osoby urodzone w latach 80. i 90. będą najlepszą siłą nabywczą, coraz częściej są to osoby stawiające za zdrowy i ekologiczny tryb życia. Nawyki społecznościowe tej grupy tworzą świetne warunki dla dzielenia się opiniami – reklama. A grupa będzie podatna na usługę ponieważ współczesny konsument jest coraz bardziej wymagający, a jego potrzeby to szybkie i łatwe zakupy z ofertą dopasowaną do indywidualnych potrzeb.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0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5. Charakterystyka rynku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(B2C czy B2B?)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Rynek B2C – Business to Consumer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pozyskiwanie nowych klientów i tworzenie stałych relacji z obecnymi (m.in.. poprzez programy lojalnościowe), duża liczba kupujących, małe rozmiary zamówień, niskie wartości zamówień, klient sam inicjuje zakup, małe ryzyko, klient pasywny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2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6. Partnerzy biznesowi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(Jakich partnerów potrzebujesz oferując usługi?)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Producenci wielorazowych opakowań, przedsiębiorstwa wspierające eco-inicjatywy, inwestorzy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9020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7. Wielkość rynku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(Mniej więcej ilu jest potencjalnych klientów?)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Potencjalni klienci to aktywni zawodowo mieszkańcy Wrocławia. Szacuje się że pracujących mieszkańców w wieku 15-24 lata jest 85 tysięcy, w wieku 25-34 lata 314 tysięcy. Rynek jest bardzo szeroki jednak trzeba wziąć po uwagę również aspekty społeczne mieszkańców. W Polsce ok. 50% ludności określa siebie jako eco-friendly. W takim rozrachunku wielkość potencjalnego rynku wynosi ok. 200 tysięcy ludzi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3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8. Konkurencja 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(Kto oferuje podobne produkty/usługi? Czy to konkurenci obecni czy potencjalni?)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Konkurencją będą ekologiczne przedsiębiorstwa, które prężnie rozwijają sektor sprzedaży wielorazowych opakowań.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3680"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9. Wymagane zasoby komplementarne</a:t>
                      </a:r>
                      <a:br>
                        <a:rPr sz="1200"/>
                      </a:b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(Co dodatkowo klient będzie chciał, aby osiągnąć pełną funkcjonalność? Czy potrzebne są dodatkowe zasoby?)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l-PL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Klienci coraz bardziej będą stawiać na technologiczne rozwiązania (współpracująca aplikacja) oraz na coraz bardziej spersonalizowane rozwiązania.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</TotalTime>
  <Application>LibreOffice/24.2.7.2$Linux_X86_64 LibreOffice_project/420$Build-2</Application>
  <AppVersion>15.0000</AppVersion>
  <Words>439</Words>
  <Paragraphs>33</Paragraphs>
  <Company>Hewlett-Packard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2018-04-11T14:57:30Z</dcterms:created>
  <dc:creator>Piotr Kubiński</dc:creator>
  <dc:description/>
  <dc:language>en-US</dc:language>
  <cp:lastModifiedBy/>
  <cp:lastPrinted>2018-05-08T14:24:55Z</cp:lastPrinted>
  <dcterms:modified xsi:type="dcterms:W3CDTF">2026-03-25T16:39:27Z</dcterms:modified>
  <cp:revision>60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Pokaz na ekranie (4:3)</vt:lpwstr>
  </property>
  <property fmtid="{D5CDD505-2E9C-101B-9397-08002B2CF9AE}" pid="3" name="Slides">
    <vt:i4>3</vt:i4>
  </property>
</Properties>
</file>