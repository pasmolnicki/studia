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</p:sldIdLst>
  <p:sldSz cx="9144000" cy="6858000" type="screen4x3"/>
  <p:notesSz cx="6808788" cy="9940925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siatka tabeli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08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smtClean="0"/>
              <a:t>Kliknij, aby edytować styl wzorca podtytułu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BAE6-AC88-4232-8E71-F8A7695D0022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69087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BAE6-AC88-4232-8E71-F8A7695D0022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390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BAE6-AC88-4232-8E71-F8A7695D0022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7755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BAE6-AC88-4232-8E71-F8A7695D0022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84814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BAE6-AC88-4232-8E71-F8A7695D0022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67106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BAE6-AC88-4232-8E71-F8A7695D0022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18627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BAE6-AC88-4232-8E71-F8A7695D0022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98068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BAE6-AC88-4232-8E71-F8A7695D0022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34614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BAE6-AC88-4232-8E71-F8A7695D0022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26425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BAE6-AC88-4232-8E71-F8A7695D0022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73467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BAE6-AC88-4232-8E71-F8A7695D0022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7852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FBAE6-AC88-4232-8E71-F8A7695D0022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06964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600" dirty="0" smtClean="0"/>
              <a:t>Zadanie nr </a:t>
            </a:r>
            <a:r>
              <a:rPr lang="pl-PL" sz="3600" dirty="0" smtClean="0"/>
              <a:t>8 </a:t>
            </a:r>
            <a:r>
              <a:rPr lang="pl-PL" sz="3600" dirty="0" smtClean="0"/>
              <a:t>– Business model</a:t>
            </a:r>
            <a:endParaRPr lang="pl-PL" sz="3600" dirty="0"/>
          </a:p>
        </p:txBody>
      </p:sp>
      <p:pic>
        <p:nvPicPr>
          <p:cNvPr id="1028" name="Picture 4" descr="Znalezione obrazy dla zapytania politechnika wrocławska logotyp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48"/>
            <a:ext cx="1824891" cy="535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ymbol zastępczy zawartości 2"/>
          <p:cNvSpPr>
            <a:spLocks noGrp="1"/>
          </p:cNvSpPr>
          <p:nvPr>
            <p:ph idx="1"/>
          </p:nvPr>
        </p:nvSpPr>
        <p:spPr>
          <a:xfrm>
            <a:off x="323528" y="1592411"/>
            <a:ext cx="8424862" cy="48609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l-PL" sz="2400" dirty="0" smtClean="0"/>
              <a:t>W pozostałe 7 pól modelu biznesowego proszę wpisać odpowiedzi na przykładowe pytania dotyczące:</a:t>
            </a:r>
            <a:endParaRPr lang="pl-PL" sz="2400" dirty="0"/>
          </a:p>
          <a:p>
            <a:pPr lvl="0"/>
            <a:r>
              <a:rPr lang="pl-PL" sz="2400" dirty="0" smtClean="0"/>
              <a:t>relacji z klientami,  </a:t>
            </a:r>
          </a:p>
          <a:p>
            <a:pPr lvl="0"/>
            <a:r>
              <a:rPr lang="pl-PL" sz="2400" dirty="0" smtClean="0"/>
              <a:t>kanałów dystrybucji,</a:t>
            </a:r>
          </a:p>
          <a:p>
            <a:pPr lvl="0"/>
            <a:r>
              <a:rPr lang="pl-PL" sz="2400" dirty="0" smtClean="0"/>
              <a:t>kluczowych czynności </a:t>
            </a:r>
          </a:p>
          <a:p>
            <a:pPr lvl="0"/>
            <a:r>
              <a:rPr lang="pl-PL" sz="2400" dirty="0" smtClean="0"/>
              <a:t>kluczowych zasobów</a:t>
            </a:r>
          </a:p>
          <a:p>
            <a:pPr lvl="0"/>
            <a:r>
              <a:rPr lang="pl-PL" sz="2400" dirty="0" smtClean="0"/>
              <a:t>kluczowych partnerów </a:t>
            </a:r>
          </a:p>
          <a:p>
            <a:pPr lvl="0"/>
            <a:r>
              <a:rPr lang="pl-PL" sz="2400" dirty="0" smtClean="0"/>
              <a:t>struktury kosztów</a:t>
            </a:r>
          </a:p>
          <a:p>
            <a:pPr lvl="0"/>
            <a:r>
              <a:rPr lang="pl-PL" sz="2400" dirty="0" smtClean="0"/>
              <a:t>źródeł przychodów</a:t>
            </a: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216064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4" descr="Znalezione obrazy dla zapytania politechnika wrocławska logotyp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26"/>
            <a:ext cx="1824891" cy="535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pole tekstowe 32"/>
          <p:cNvSpPr txBox="1"/>
          <p:nvPr/>
        </p:nvSpPr>
        <p:spPr>
          <a:xfrm>
            <a:off x="1907704" y="177826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 smtClean="0"/>
              <a:t>SZABLON WARSZTATOWY NR </a:t>
            </a:r>
            <a:r>
              <a:rPr lang="pl-PL" dirty="0" smtClean="0"/>
              <a:t>8 </a:t>
            </a:r>
            <a:r>
              <a:rPr lang="pl-PL" dirty="0" smtClean="0"/>
              <a:t>– Business </a:t>
            </a:r>
            <a:r>
              <a:rPr lang="pl-PL" dirty="0"/>
              <a:t>M</a:t>
            </a:r>
            <a:r>
              <a:rPr lang="pl-PL" dirty="0" smtClean="0"/>
              <a:t>odel </a:t>
            </a:r>
            <a:r>
              <a:rPr lang="pl-PL" dirty="0" err="1" smtClean="0"/>
              <a:t>Canvas</a:t>
            </a:r>
            <a:endParaRPr lang="pl-PL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762000"/>
            <a:ext cx="90297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2918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Prostokąt 1"/>
          <p:cNvSpPr>
            <a:spLocks noChangeArrowheads="1"/>
          </p:cNvSpPr>
          <p:nvPr/>
        </p:nvSpPr>
        <p:spPr bwMode="auto">
          <a:xfrm>
            <a:off x="0" y="980728"/>
            <a:ext cx="9144000" cy="779783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l-PL" altLang="pl-PL" sz="1400">
              <a:latin typeface="Arial" panose="020B0604020202020204" pitchFamily="34" charset="0"/>
            </a:endParaRPr>
          </a:p>
        </p:txBody>
      </p:sp>
      <p:sp>
        <p:nvSpPr>
          <p:cNvPr id="12291" name="pole tekstowe 4"/>
          <p:cNvSpPr txBox="1">
            <a:spLocks noChangeArrowheads="1"/>
          </p:cNvSpPr>
          <p:nvPr/>
        </p:nvSpPr>
        <p:spPr bwMode="auto">
          <a:xfrm>
            <a:off x="2843213" y="549275"/>
            <a:ext cx="27368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pl-PL" sz="2400" b="1">
                <a:solidFill>
                  <a:schemeClr val="bg1"/>
                </a:solidFill>
                <a:latin typeface="Arial" panose="020B0604020202020204" pitchFamily="34" charset="0"/>
              </a:rPr>
              <a:t>Model biznesowy</a:t>
            </a:r>
          </a:p>
        </p:txBody>
      </p:sp>
      <p:sp>
        <p:nvSpPr>
          <p:cNvPr id="11" name="Prostokąt 10"/>
          <p:cNvSpPr/>
          <p:nvPr/>
        </p:nvSpPr>
        <p:spPr>
          <a:xfrm>
            <a:off x="395288" y="5460653"/>
            <a:ext cx="4248150" cy="12684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pl-PL" sz="1400" dirty="0">
                <a:solidFill>
                  <a:schemeClr val="tx1"/>
                </a:solidFill>
              </a:rPr>
              <a:t>Struktura </a:t>
            </a:r>
            <a:r>
              <a:rPr lang="pl-PL" sz="1400" dirty="0" smtClean="0">
                <a:solidFill>
                  <a:schemeClr val="tx1"/>
                </a:solidFill>
              </a:rPr>
              <a:t>kosztów: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r>
              <a:rPr lang="pl-PL" sz="1400" dirty="0" smtClean="0">
                <a:solidFill>
                  <a:schemeClr val="tx1"/>
                </a:solidFill>
              </a:rPr>
              <a:t>  </a:t>
            </a:r>
            <a:endParaRPr lang="pl-PL" sz="1400" dirty="0">
              <a:solidFill>
                <a:schemeClr val="tx1"/>
              </a:solidFill>
            </a:endParaRPr>
          </a:p>
        </p:txBody>
      </p:sp>
      <p:sp>
        <p:nvSpPr>
          <p:cNvPr id="12" name="Prostokąt 11"/>
          <p:cNvSpPr/>
          <p:nvPr/>
        </p:nvSpPr>
        <p:spPr>
          <a:xfrm>
            <a:off x="4716463" y="5460653"/>
            <a:ext cx="4248150" cy="12684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pl-PL" sz="1400" dirty="0">
                <a:solidFill>
                  <a:schemeClr val="tx1"/>
                </a:solidFill>
              </a:rPr>
              <a:t>Strumienie </a:t>
            </a:r>
            <a:r>
              <a:rPr lang="pl-PL" sz="1400" dirty="0" smtClean="0">
                <a:solidFill>
                  <a:schemeClr val="tx1"/>
                </a:solidFill>
              </a:rPr>
              <a:t>przychodów: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3" name="Prostokąt 12"/>
          <p:cNvSpPr/>
          <p:nvPr/>
        </p:nvSpPr>
        <p:spPr>
          <a:xfrm>
            <a:off x="3851275" y="1139478"/>
            <a:ext cx="1657350" cy="4248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pl-PL" sz="1400" dirty="0">
                <a:solidFill>
                  <a:schemeClr val="tx1"/>
                </a:solidFill>
              </a:rPr>
              <a:t>Propozycja </a:t>
            </a:r>
            <a:r>
              <a:rPr lang="pl-PL" sz="1400" dirty="0" smtClean="0">
                <a:solidFill>
                  <a:schemeClr val="tx1"/>
                </a:solidFill>
              </a:rPr>
              <a:t>wartości: 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4" name="Prostokąt 13"/>
          <p:cNvSpPr/>
          <p:nvPr/>
        </p:nvSpPr>
        <p:spPr>
          <a:xfrm>
            <a:off x="5580063" y="3371503"/>
            <a:ext cx="1655762" cy="2016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pl-PL" sz="1400" dirty="0" smtClean="0">
                <a:solidFill>
                  <a:schemeClr val="tx1"/>
                </a:solidFill>
              </a:rPr>
              <a:t>Kanały: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r>
              <a:rPr lang="pl-PL" sz="1400" dirty="0" smtClean="0">
                <a:solidFill>
                  <a:schemeClr val="tx1"/>
                </a:solidFill>
              </a:rPr>
              <a:t> 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5" name="Prostokąt 14"/>
          <p:cNvSpPr/>
          <p:nvPr/>
        </p:nvSpPr>
        <p:spPr>
          <a:xfrm>
            <a:off x="7308850" y="1139478"/>
            <a:ext cx="1655763" cy="4248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pl-PL" sz="1400" dirty="0">
                <a:solidFill>
                  <a:schemeClr val="tx1"/>
                </a:solidFill>
              </a:rPr>
              <a:t>Segmenty </a:t>
            </a:r>
            <a:r>
              <a:rPr lang="pl-PL" sz="1400" dirty="0" smtClean="0">
                <a:solidFill>
                  <a:schemeClr val="tx1"/>
                </a:solidFill>
              </a:rPr>
              <a:t>klientów: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r>
              <a:rPr lang="pl-PL" sz="1400" dirty="0" smtClean="0">
                <a:solidFill>
                  <a:schemeClr val="tx1"/>
                </a:solidFill>
              </a:rPr>
              <a:t> 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eaLnBrk="1" hangingPunct="1">
              <a:defRPr/>
            </a:pPr>
            <a:endParaRPr lang="pl-PL" sz="1400" dirty="0" smtClean="0">
              <a:solidFill>
                <a:schemeClr val="tx1"/>
              </a:solidFill>
            </a:endParaRPr>
          </a:p>
          <a:p>
            <a:pPr eaLnBrk="1" hangingPunct="1"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eaLnBrk="1" hangingPunct="1">
              <a:defRPr/>
            </a:pPr>
            <a:endParaRPr lang="pl-PL" sz="1400" dirty="0">
              <a:solidFill>
                <a:schemeClr val="tx1"/>
              </a:solidFill>
            </a:endParaRPr>
          </a:p>
        </p:txBody>
      </p:sp>
      <p:sp>
        <p:nvSpPr>
          <p:cNvPr id="16" name="Prostokąt 15"/>
          <p:cNvSpPr/>
          <p:nvPr/>
        </p:nvSpPr>
        <p:spPr>
          <a:xfrm>
            <a:off x="5580063" y="1139478"/>
            <a:ext cx="1655762" cy="21240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pl-PL" sz="1400" dirty="0">
                <a:solidFill>
                  <a:schemeClr val="tx1"/>
                </a:solidFill>
              </a:rPr>
              <a:t>Relacje z </a:t>
            </a:r>
            <a:r>
              <a:rPr lang="pl-PL" sz="1400" dirty="0" smtClean="0">
                <a:solidFill>
                  <a:schemeClr val="tx1"/>
                </a:solidFill>
              </a:rPr>
              <a:t>klientami: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 smtClean="0">
                <a:solidFill>
                  <a:schemeClr val="tx1"/>
                </a:solidFill>
              </a:rPr>
              <a:t>  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7" name="Prostokąt 16"/>
          <p:cNvSpPr/>
          <p:nvPr/>
        </p:nvSpPr>
        <p:spPr>
          <a:xfrm>
            <a:off x="395288" y="1139478"/>
            <a:ext cx="1655762" cy="4248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pl-PL" sz="1400" dirty="0">
                <a:solidFill>
                  <a:schemeClr val="tx1"/>
                </a:solidFill>
              </a:rPr>
              <a:t>Kluczowi </a:t>
            </a:r>
            <a:r>
              <a:rPr lang="pl-PL" sz="1400" dirty="0" smtClean="0">
                <a:solidFill>
                  <a:schemeClr val="tx1"/>
                </a:solidFill>
              </a:rPr>
              <a:t>partnerzy: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r>
              <a:rPr lang="pl-PL" sz="1400" dirty="0" smtClean="0">
                <a:solidFill>
                  <a:schemeClr val="tx1"/>
                </a:solidFill>
              </a:rPr>
              <a:t> 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r>
              <a:rPr lang="pl-PL" sz="1400" dirty="0" smtClean="0">
                <a:solidFill>
                  <a:schemeClr val="tx1"/>
                </a:solidFill>
              </a:rPr>
              <a:t> 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r>
              <a:rPr lang="pl-PL" sz="1400" dirty="0" smtClean="0">
                <a:solidFill>
                  <a:schemeClr val="tx1"/>
                </a:solidFill>
              </a:rPr>
              <a:t> </a:t>
            </a:r>
            <a:endParaRPr lang="pl-PL" sz="1400" dirty="0">
              <a:solidFill>
                <a:schemeClr val="tx1"/>
              </a:solidFill>
            </a:endParaRPr>
          </a:p>
        </p:txBody>
      </p:sp>
      <p:sp>
        <p:nvSpPr>
          <p:cNvPr id="18" name="Prostokąt 17"/>
          <p:cNvSpPr/>
          <p:nvPr/>
        </p:nvSpPr>
        <p:spPr>
          <a:xfrm>
            <a:off x="2124075" y="3371503"/>
            <a:ext cx="1655763" cy="2016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pl-PL" sz="1400" dirty="0">
                <a:solidFill>
                  <a:schemeClr val="tx1"/>
                </a:solidFill>
              </a:rPr>
              <a:t>Kluczowe </a:t>
            </a:r>
            <a:r>
              <a:rPr lang="pl-PL" sz="1400" dirty="0" smtClean="0">
                <a:solidFill>
                  <a:schemeClr val="tx1"/>
                </a:solidFill>
              </a:rPr>
              <a:t>zasoby: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r>
              <a:rPr lang="pl-PL" sz="1400" dirty="0" smtClean="0">
                <a:solidFill>
                  <a:schemeClr val="tx1"/>
                </a:solidFill>
              </a:rPr>
              <a:t> </a:t>
            </a:r>
            <a:endParaRPr lang="pl-PL" sz="1400" dirty="0">
              <a:solidFill>
                <a:schemeClr val="tx1"/>
              </a:solidFill>
            </a:endParaRPr>
          </a:p>
        </p:txBody>
      </p:sp>
      <p:sp>
        <p:nvSpPr>
          <p:cNvPr id="19" name="Prostokąt 18"/>
          <p:cNvSpPr/>
          <p:nvPr/>
        </p:nvSpPr>
        <p:spPr>
          <a:xfrm>
            <a:off x="2124075" y="1139478"/>
            <a:ext cx="1655763" cy="21240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pl-PL" sz="1400" dirty="0">
                <a:solidFill>
                  <a:schemeClr val="tx1"/>
                </a:solidFill>
              </a:rPr>
              <a:t>Kluczowe </a:t>
            </a:r>
            <a:r>
              <a:rPr lang="pl-PL" sz="1400" dirty="0" smtClean="0">
                <a:solidFill>
                  <a:schemeClr val="tx1"/>
                </a:solidFill>
              </a:rPr>
              <a:t>działania: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  <a:endParaRPr lang="pl-PL" sz="140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pl-PL" sz="14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4117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Prostokąt 12"/>
          <p:cNvSpPr>
            <a:spLocks noChangeArrowheads="1"/>
          </p:cNvSpPr>
          <p:nvPr/>
        </p:nvSpPr>
        <p:spPr bwMode="auto">
          <a:xfrm>
            <a:off x="0" y="1011238"/>
            <a:ext cx="9144000" cy="584676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l-PL" altLang="pl-PL" sz="1800">
              <a:latin typeface="Arial" panose="020B0604020202020204" pitchFamily="34" charset="0"/>
            </a:endParaRPr>
          </a:p>
        </p:txBody>
      </p:sp>
      <p:pic>
        <p:nvPicPr>
          <p:cNvPr id="36867" name="Obraz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030288"/>
            <a:ext cx="8893175" cy="547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8" name="pole tekstowe 4"/>
          <p:cNvSpPr txBox="1">
            <a:spLocks noChangeArrowheads="1"/>
          </p:cNvSpPr>
          <p:nvPr/>
        </p:nvSpPr>
        <p:spPr bwMode="auto">
          <a:xfrm>
            <a:off x="395535" y="549275"/>
            <a:ext cx="874923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pl-PL" altLang="pl-PL" sz="2400" b="1" dirty="0">
                <a:solidFill>
                  <a:schemeClr val="accent2"/>
                </a:solidFill>
                <a:latin typeface="Arial" panose="020B0604020202020204" pitchFamily="34" charset="0"/>
              </a:rPr>
              <a:t>Model biznesowy NESPRESSO 1987 r</a:t>
            </a:r>
            <a:r>
              <a:rPr lang="pl-PL" altLang="pl-PL" sz="2400" b="1" dirty="0" smtClean="0">
                <a:solidFill>
                  <a:schemeClr val="accent2"/>
                </a:solidFill>
                <a:latin typeface="Arial" panose="020B0604020202020204" pitchFamily="34" charset="0"/>
              </a:rPr>
              <a:t>. (wyjściowy)</a:t>
            </a:r>
            <a:endParaRPr lang="pl-PL" altLang="pl-PL" sz="2400" b="1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3" name="Prostokąt 2"/>
          <p:cNvSpPr/>
          <p:nvPr/>
        </p:nvSpPr>
        <p:spPr>
          <a:xfrm>
            <a:off x="754063" y="3908425"/>
            <a:ext cx="1009650" cy="50482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>
                <a:solidFill>
                  <a:schemeClr val="tx1"/>
                </a:solidFill>
              </a:rPr>
              <a:t>Producenci maszyn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25" name="Prostokąt 24"/>
          <p:cNvSpPr/>
          <p:nvPr/>
        </p:nvSpPr>
        <p:spPr>
          <a:xfrm>
            <a:off x="3929063" y="1954213"/>
            <a:ext cx="1008062" cy="50165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 err="1">
                <a:solidFill>
                  <a:schemeClr val="tx1"/>
                </a:solidFill>
              </a:rPr>
              <a:t>Nespresso</a:t>
            </a:r>
            <a:r>
              <a:rPr lang="pl-PL" sz="1200" dirty="0">
                <a:solidFill>
                  <a:schemeClr val="tx1"/>
                </a:solidFill>
              </a:rPr>
              <a:t> system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27" name="Prostokąt 26"/>
          <p:cNvSpPr/>
          <p:nvPr/>
        </p:nvSpPr>
        <p:spPr>
          <a:xfrm>
            <a:off x="5291138" y="3968750"/>
            <a:ext cx="1311275" cy="50482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 err="1">
                <a:solidFill>
                  <a:schemeClr val="tx1"/>
                </a:solidFill>
              </a:rPr>
              <a:t>Join</a:t>
            </a:r>
            <a:r>
              <a:rPr lang="pl-PL" sz="1200" dirty="0">
                <a:solidFill>
                  <a:schemeClr val="tx1"/>
                </a:solidFill>
              </a:rPr>
              <a:t> venture z </a:t>
            </a:r>
            <a:br>
              <a:rPr lang="pl-PL" sz="1200" dirty="0">
                <a:solidFill>
                  <a:schemeClr val="tx1"/>
                </a:solidFill>
              </a:rPr>
            </a:br>
            <a:r>
              <a:rPr lang="pl-PL" sz="1200" dirty="0">
                <a:solidFill>
                  <a:schemeClr val="tx1"/>
                </a:solidFill>
              </a:rPr>
              <a:t>producentami maszyn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28" name="Prostokąt 27"/>
          <p:cNvSpPr/>
          <p:nvPr/>
        </p:nvSpPr>
        <p:spPr>
          <a:xfrm>
            <a:off x="7959725" y="3768725"/>
            <a:ext cx="1008063" cy="50482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>
                <a:solidFill>
                  <a:schemeClr val="tx1"/>
                </a:solidFill>
              </a:rPr>
              <a:t>Biura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12" name="Prostokąt 11"/>
          <p:cNvSpPr/>
          <p:nvPr/>
        </p:nvSpPr>
        <p:spPr>
          <a:xfrm>
            <a:off x="6227763" y="5192713"/>
            <a:ext cx="1008062" cy="50482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>
                <a:solidFill>
                  <a:schemeClr val="tx1"/>
                </a:solidFill>
              </a:rPr>
              <a:t>Sprzedaż ekspresów</a:t>
            </a:r>
            <a:endParaRPr lang="pl-P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826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Prostokąt 26"/>
          <p:cNvSpPr>
            <a:spLocks noChangeArrowheads="1"/>
          </p:cNvSpPr>
          <p:nvPr/>
        </p:nvSpPr>
        <p:spPr bwMode="auto">
          <a:xfrm>
            <a:off x="0" y="981075"/>
            <a:ext cx="9144000" cy="58769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l-PL" altLang="pl-PL" sz="1800">
              <a:latin typeface="Arial" panose="020B0604020202020204" pitchFamily="34" charset="0"/>
            </a:endParaRPr>
          </a:p>
        </p:txBody>
      </p:sp>
      <p:pic>
        <p:nvPicPr>
          <p:cNvPr id="39939" name="Obraz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030288"/>
            <a:ext cx="8893175" cy="547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pole tekstowe 4"/>
          <p:cNvSpPr txBox="1">
            <a:spLocks noChangeArrowheads="1"/>
          </p:cNvSpPr>
          <p:nvPr/>
        </p:nvSpPr>
        <p:spPr bwMode="auto">
          <a:xfrm>
            <a:off x="-251792" y="549275"/>
            <a:ext cx="927038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l-PL" altLang="pl-PL" sz="2400" b="1" dirty="0">
                <a:solidFill>
                  <a:schemeClr val="accent2"/>
                </a:solidFill>
                <a:latin typeface="Arial" panose="020B0604020202020204" pitchFamily="34" charset="0"/>
              </a:rPr>
              <a:t>Obecny model biznesowy NESPRESSO</a:t>
            </a:r>
          </a:p>
        </p:txBody>
      </p:sp>
      <p:sp>
        <p:nvSpPr>
          <p:cNvPr id="3" name="Prostokąt 2"/>
          <p:cNvSpPr/>
          <p:nvPr/>
        </p:nvSpPr>
        <p:spPr>
          <a:xfrm>
            <a:off x="754063" y="4079875"/>
            <a:ext cx="1009650" cy="50482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>
                <a:solidFill>
                  <a:schemeClr val="tx1"/>
                </a:solidFill>
              </a:rPr>
              <a:t>Producenci maszyn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8" name="Prostokąt 7"/>
          <p:cNvSpPr/>
          <p:nvPr/>
        </p:nvSpPr>
        <p:spPr>
          <a:xfrm>
            <a:off x="2065338" y="1125538"/>
            <a:ext cx="1008062" cy="50323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>
                <a:solidFill>
                  <a:schemeClr val="tx1"/>
                </a:solidFill>
              </a:rPr>
              <a:t>B2C dystrybucja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9" name="Prostokąt 8"/>
          <p:cNvSpPr/>
          <p:nvPr/>
        </p:nvSpPr>
        <p:spPr>
          <a:xfrm>
            <a:off x="1908175" y="2565400"/>
            <a:ext cx="1008063" cy="503238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>
                <a:solidFill>
                  <a:schemeClr val="tx1"/>
                </a:solidFill>
              </a:rPr>
              <a:t>Marketing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10" name="Prostokąt 9"/>
          <p:cNvSpPr/>
          <p:nvPr/>
        </p:nvSpPr>
        <p:spPr>
          <a:xfrm>
            <a:off x="1930400" y="3249613"/>
            <a:ext cx="1008063" cy="5048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>
                <a:solidFill>
                  <a:schemeClr val="tx1"/>
                </a:solidFill>
              </a:rPr>
              <a:t>Patenty 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11" name="Prostokąt 10"/>
          <p:cNvSpPr/>
          <p:nvPr/>
        </p:nvSpPr>
        <p:spPr>
          <a:xfrm>
            <a:off x="2863850" y="3502025"/>
            <a:ext cx="1008063" cy="5048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>
                <a:solidFill>
                  <a:schemeClr val="tx1"/>
                </a:solidFill>
              </a:rPr>
              <a:t>Marka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12" name="Prostokąt 11"/>
          <p:cNvSpPr/>
          <p:nvPr/>
        </p:nvSpPr>
        <p:spPr>
          <a:xfrm>
            <a:off x="2195513" y="4481513"/>
            <a:ext cx="1008062" cy="5048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>
                <a:solidFill>
                  <a:schemeClr val="tx1"/>
                </a:solidFill>
              </a:rPr>
              <a:t>Kanały dystrybucji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13" name="Prostokąt 12"/>
          <p:cNvSpPr/>
          <p:nvPr/>
        </p:nvSpPr>
        <p:spPr>
          <a:xfrm>
            <a:off x="2863850" y="2312988"/>
            <a:ext cx="1008063" cy="50482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>
                <a:solidFill>
                  <a:schemeClr val="tx1"/>
                </a:solidFill>
              </a:rPr>
              <a:t>Produkcja kapsuł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14" name="Prostokąt 13"/>
          <p:cNvSpPr/>
          <p:nvPr/>
        </p:nvSpPr>
        <p:spPr>
          <a:xfrm>
            <a:off x="4121150" y="2205038"/>
            <a:ext cx="1008063" cy="50482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>
                <a:solidFill>
                  <a:schemeClr val="tx1"/>
                </a:solidFill>
              </a:rPr>
              <a:t>Ekspresy </a:t>
            </a:r>
            <a:r>
              <a:rPr lang="pl-PL" sz="1200" dirty="0" err="1">
                <a:solidFill>
                  <a:schemeClr val="tx1"/>
                </a:solidFill>
              </a:rPr>
              <a:t>Nespresso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15" name="Prostokąt 14"/>
          <p:cNvSpPr/>
          <p:nvPr/>
        </p:nvSpPr>
        <p:spPr>
          <a:xfrm>
            <a:off x="4137025" y="3754438"/>
            <a:ext cx="1008063" cy="5048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>
                <a:solidFill>
                  <a:schemeClr val="tx1"/>
                </a:solidFill>
              </a:rPr>
              <a:t>Kapsuły</a:t>
            </a:r>
            <a:br>
              <a:rPr lang="pl-PL" sz="1200" dirty="0">
                <a:solidFill>
                  <a:schemeClr val="tx1"/>
                </a:solidFill>
              </a:rPr>
            </a:br>
            <a:r>
              <a:rPr lang="pl-PL" sz="1200" dirty="0" err="1">
                <a:solidFill>
                  <a:schemeClr val="tx1"/>
                </a:solidFill>
              </a:rPr>
              <a:t>Nespresso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16" name="Prostokąt 15"/>
          <p:cNvSpPr/>
          <p:nvPr/>
        </p:nvSpPr>
        <p:spPr>
          <a:xfrm>
            <a:off x="5830888" y="1809750"/>
            <a:ext cx="1009650" cy="5032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>
                <a:solidFill>
                  <a:schemeClr val="tx1"/>
                </a:solidFill>
              </a:rPr>
              <a:t>Klub</a:t>
            </a:r>
            <a:br>
              <a:rPr lang="pl-PL" sz="1200" dirty="0">
                <a:solidFill>
                  <a:schemeClr val="tx1"/>
                </a:solidFill>
              </a:rPr>
            </a:br>
            <a:r>
              <a:rPr lang="pl-PL" sz="1200" dirty="0" err="1">
                <a:solidFill>
                  <a:schemeClr val="tx1"/>
                </a:solidFill>
              </a:rPr>
              <a:t>Nespresso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17" name="Prostokąt 16"/>
          <p:cNvSpPr/>
          <p:nvPr/>
        </p:nvSpPr>
        <p:spPr>
          <a:xfrm>
            <a:off x="5480050" y="3860800"/>
            <a:ext cx="1008063" cy="50482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>
                <a:solidFill>
                  <a:schemeClr val="tx1"/>
                </a:solidFill>
              </a:rPr>
              <a:t>Handel 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18" name="Prostokąt 17"/>
          <p:cNvSpPr/>
          <p:nvPr/>
        </p:nvSpPr>
        <p:spPr>
          <a:xfrm>
            <a:off x="6659563" y="3860800"/>
            <a:ext cx="1008062" cy="5048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>
                <a:solidFill>
                  <a:schemeClr val="tx1"/>
                </a:solidFill>
              </a:rPr>
              <a:t>Nespresso.com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19" name="Prostokąt 18"/>
          <p:cNvSpPr/>
          <p:nvPr/>
        </p:nvSpPr>
        <p:spPr>
          <a:xfrm>
            <a:off x="5327650" y="4518025"/>
            <a:ext cx="1008063" cy="5032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>
                <a:solidFill>
                  <a:schemeClr val="tx1"/>
                </a:solidFill>
              </a:rPr>
              <a:t>Sklepy </a:t>
            </a:r>
            <a:br>
              <a:rPr lang="pl-PL" sz="1200" dirty="0">
                <a:solidFill>
                  <a:schemeClr val="tx1"/>
                </a:solidFill>
              </a:rPr>
            </a:br>
            <a:r>
              <a:rPr lang="pl-PL" sz="1200" dirty="0" err="1">
                <a:solidFill>
                  <a:schemeClr val="tx1"/>
                </a:solidFill>
              </a:rPr>
              <a:t>Nespresso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20" name="Prostokąt 19"/>
          <p:cNvSpPr/>
          <p:nvPr/>
        </p:nvSpPr>
        <p:spPr>
          <a:xfrm>
            <a:off x="6659563" y="4724400"/>
            <a:ext cx="1008062" cy="50482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>
                <a:solidFill>
                  <a:schemeClr val="tx1"/>
                </a:solidFill>
              </a:rPr>
              <a:t>Call </a:t>
            </a:r>
            <a:r>
              <a:rPr lang="pl-PL" sz="1200" dirty="0" err="1">
                <a:solidFill>
                  <a:schemeClr val="tx1"/>
                </a:solidFill>
              </a:rPr>
              <a:t>center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21" name="Prostokąt 20"/>
          <p:cNvSpPr/>
          <p:nvPr/>
        </p:nvSpPr>
        <p:spPr>
          <a:xfrm>
            <a:off x="7885113" y="2198688"/>
            <a:ext cx="1008062" cy="5048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>
                <a:solidFill>
                  <a:schemeClr val="tx1"/>
                </a:solidFill>
              </a:rPr>
              <a:t>Gospodarstwa domowe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22" name="Prostokąt 21"/>
          <p:cNvSpPr/>
          <p:nvPr/>
        </p:nvSpPr>
        <p:spPr>
          <a:xfrm>
            <a:off x="7915275" y="3514725"/>
            <a:ext cx="1008063" cy="503238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>
                <a:solidFill>
                  <a:schemeClr val="tx1"/>
                </a:solidFill>
              </a:rPr>
              <a:t>Biura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23" name="Prostokąt 22"/>
          <p:cNvSpPr/>
          <p:nvPr/>
        </p:nvSpPr>
        <p:spPr>
          <a:xfrm>
            <a:off x="4976813" y="5246688"/>
            <a:ext cx="1006475" cy="50482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>
                <a:solidFill>
                  <a:schemeClr val="tx1"/>
                </a:solidFill>
              </a:rPr>
              <a:t>Sprzedaż ekspresów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24" name="Prostokąt 23"/>
          <p:cNvSpPr/>
          <p:nvPr/>
        </p:nvSpPr>
        <p:spPr>
          <a:xfrm>
            <a:off x="8010525" y="5294313"/>
            <a:ext cx="1008063" cy="5048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>
                <a:solidFill>
                  <a:schemeClr val="tx1"/>
                </a:solidFill>
              </a:rPr>
              <a:t>Sprzedaż kapsuł 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25" name="Prostokąt 24"/>
          <p:cNvSpPr/>
          <p:nvPr/>
        </p:nvSpPr>
        <p:spPr>
          <a:xfrm>
            <a:off x="1738313" y="5199063"/>
            <a:ext cx="1008062" cy="5048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>
                <a:solidFill>
                  <a:schemeClr val="tx1"/>
                </a:solidFill>
              </a:rPr>
              <a:t>Koszty produkcji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26" name="Prostokąt 25"/>
          <p:cNvSpPr/>
          <p:nvPr/>
        </p:nvSpPr>
        <p:spPr>
          <a:xfrm>
            <a:off x="3571875" y="5256213"/>
            <a:ext cx="1008063" cy="50482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l-PL" sz="1200" dirty="0">
                <a:solidFill>
                  <a:schemeClr val="tx1"/>
                </a:solidFill>
              </a:rPr>
              <a:t>Koszty sprzedaży</a:t>
            </a:r>
            <a:endParaRPr lang="pl-P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611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1133</TotalTime>
  <Words>174</Words>
  <Application>Microsoft Office PowerPoint</Application>
  <PresentationFormat>Pokaz na ekranie (4:3)</PresentationFormat>
  <Paragraphs>94</Paragraphs>
  <Slides>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8" baseType="lpstr">
      <vt:lpstr>Arial</vt:lpstr>
      <vt:lpstr>Calibri</vt:lpstr>
      <vt:lpstr>Motyw pakietu Office</vt:lpstr>
      <vt:lpstr>Zadanie nr 8 – Business model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Piotr Kubiński</dc:creator>
  <cp:lastModifiedBy>P.Kubinski</cp:lastModifiedBy>
  <cp:revision>60</cp:revision>
  <cp:lastPrinted>2018-05-08T14:24:55Z</cp:lastPrinted>
  <dcterms:created xsi:type="dcterms:W3CDTF">2018-04-11T14:57:30Z</dcterms:created>
  <dcterms:modified xsi:type="dcterms:W3CDTF">2026-05-25T16:08:28Z</dcterms:modified>
</cp:coreProperties>
</file>